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r>
              <a:t>This is the whole result. One row per arm.</a:t>
            </a:r>
          </a:p>
          <a:p/>
          <a:p>
            <a:r>
              <a:t>Mexiletine blocks muscle sodium channels; it treats the symptom. Its predictor is the symptom: baseline myotonia severity. Among held-out test patients, 48% above the cut-off responded versus 10% below.</a:t>
            </a:r>
          </a:p>
          <a:p/>
          <a:p>
            <a:r>
              <a:t>The antisense oligonucleotide degrades the toxic DMPK transcript; it acts on the cause. Its predictor is the amount of cause: CTG repeat length. 59% versus 31%.</a:t>
            </a:r>
          </a:p>
          <a:p/>
          <a:p>
            <a:r>
              <a:t>Tideglusib inhibits GSK3β and acts across several systems including the brain; the endpoint is a composite with a cognitive domain. Its predictor is baseline cognitive function. 74% versus 17%.</a:t>
            </a:r>
          </a:p>
          <a:p/>
          <a:p>
            <a:r>
              <a:t>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a:t>
            </a:r>
          </a:p>
          <a:p/>
          <a:p>
            <a:r>
              <a:t>Machine learning, meaning random forest and XGBoost, ranked the same covariates first. It did not add a predictor.</a:t>
            </a:r>
          </a:p>
          <a:p/>
          <a:p>
            <a:r>
              <a:t>Mexiletine scale, if asked (team discussion 13 Oct): absolute change in myotonia is multiplicative in baseline (Wenzhe's variance diagnostic, theta about 1), so most of the R² of 0.6 to 0.7 on absolute change is room to improve, not drug biology. On relative change the same severity/CTG axis still predicts, but modestly: cross-validated R² about 0.15, Spearman 0.43, responder AUC 0.75; relative improvement rises from 32% in the mildest quarter to 45% in the most severe, and the responder share from 9% to 50%. So we present mexiletine on the responder rule (relative), name severity and CTG as one axis (VIF 4 to 5), and say the absolute-change fit is largely arithmetic. Ming's two-part framing of the whole talk: additional predictors from ML? No. Better stratification? Yes, in one way: ML found the shape of the cognition effect, and a one-term rule captures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 s]</a:t>
            </a:r>
          </a:p>
          <a:p>
            <a:r>
              <a:t>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a:t>
            </a:r>
          </a:p>
          <a:p>
            <a:endParaRPr/>
          </a:p>
          <a:p>
            <a:r>
              <a:t>Mexiletine: from mild to severe myotonia, predicted response rises from 17% to 38%. A symptomatic drug: the effect scales with the symptom present. Late-onset patients respond less because their baseline myotonia is mild; there is little to treat.</a:t>
            </a:r>
          </a:p>
          <a:p>
            <a:endParaRPr/>
          </a:p>
          <a:p>
            <a:r>
              <a:t>The oligonucleotide: from short to long repeats, 22% to 75%. The only predictor in the arm. A target-engaging drug: the effect scales with the amount of target transcript. Note that individual prediction stays poor, test R-squared under 0.1: we know the direction, not the person.</a:t>
            </a:r>
          </a:p>
          <a:p>
            <a:endParaRPr/>
          </a:p>
          <a:p>
            <a:r>
              <a:t>Tideglusib: from impaired to intact cognition, 87% down to 14%, and it is a threshold near minus 0.5, not a gradient. The composite endpoint has a cognitive domain, so a patient with intact cognition has no room for measurable gain. A ceiling effect.</a:t>
            </a:r>
          </a:p>
          <a:p>
            <a:endParaRPr/>
          </a:p>
          <a:p>
            <a:r>
              <a:t>Onset phenotype adds little once the dominant covariate is in the model: the phenotype rows straddle the reference line.</a:t>
            </a:r>
          </a:p>
          <a:p>
            <a:endParaRPr/>
          </a:p>
          <a:p>
            <a:r>
              <a:t>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a:t>
            </a:r>
          </a:p>
          <a:p>
            <a:endParaRPr/>
          </a:p>
          <a:p>
            <a:r>
              <a:t>If asked what was noise: sex, BMI, smoking, cataracts, CK, PR interval and albumin in every arm; disease duration borderline everywhere.</a:t>
            </a:r>
          </a:p>
          <a:p>
            <a:endParaRPr/>
          </a:p>
          <a:p>
            <a:r>
              <a:t>Secondary candidate, if asked: disease duration. Borderline in our pipeline (3 to 4 of 5 votes, 24 to 48% stability), signal in Wenzhe's pipeline for mexiletine and tideglusib. Direction: longer disease duration, less response, in both arms. Clinically: a proxy for accumulated irreversible damage. We present it as a candidate for confirmation, not a finding.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a:t>
            </a:r>
          </a:p>
          <a:p>
            <a:r>
              <a:t>The scoreboard. Blue bars are covariate models, orange bars are machine learning, test-set R-squared for the continuous endpoint, about 41 held-out patients per arm.</a:t>
            </a:r>
          </a:p>
          <a:p>
            <a:endParaRPr/>
          </a:p>
          <a:p>
            <a:r>
              <a:t>Mexiletine: every method lands between 0.47 and 0.54. Equivalent. Across 20 repeated splits the top rank alternates between stepwise selection and tuned XGBoost.</a:t>
            </a:r>
          </a:p>
          <a:p>
            <a:endParaRPr/>
          </a:p>
          <a:p>
            <a:r>
              <a:t>Oligonucleotide: every method is under 0.1, on every split. The repeat-length effect is consistent but between-patient variability dominates. We report that as it is.</a:t>
            </a:r>
          </a:p>
          <a:p>
            <a:endParaRPr/>
          </a:p>
          <a:p>
            <a:r>
              <a:t>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a:t>
            </a:r>
          </a:p>
          <a:p>
            <a:endParaRPr/>
          </a:p>
          <a:p>
            <a:r>
              <a:t>Intervals overlap within each arm, so we do not rank methods inside an arm. Machine learning was the check that nothing was missed: by permutation importance and SHAP it found the same leaders.</a:t>
            </a:r>
          </a:p>
          <a:p>
            <a:endParaRPr/>
          </a:p>
          <a:p>
            <a:r>
              <a:t>The three lines under the figure quote medians over 20 repeated splits rather than our single locked split, because single-split R² moves by up to 0.15 between draws. Our locked split: mexiletine 0.47 to 0.54, oligonucleotide under 0.1, tideglusib 0.55 vs 0.24 to 0.30. Wenzhe's independent 80/20 split: mexiletine 0.75, oligonucleotide 0.27, tideglusib tree ensembles ahead; same pattern.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 (one axis with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Selected by all five methods in every arm.  Machine learning added no predictor.  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
        <p:nvSpPr>
          <p:cNvPr id="24" name="TextBox 23"/>
          <p:cNvSpPr txBox="1"/>
          <p:nvPr/>
        </p:nvSpPr>
        <p:spPr>
          <a:xfrm>
            <a:off x="548640" y="6263640"/>
            <a:ext cx="6057236" cy="307777"/>
          </a:xfrm>
          <a:prstGeom prst="rect">
            <a:avLst/>
          </a:prstGeom>
          <a:noFill/>
        </p:spPr>
        <p:txBody>
          <a:bodyPr wrap="none" lIns="0" tIns="0" rIns="0" bIns="0">
            <a:spAutoFit/>
          </a:bodyPr>
          <a:lstStyle/>
          <a:p>
            <a:r>
              <a:rPr sz="2000" dirty="0" err="1">
                <a:solidFill>
                  <a:srgbClr val="5B6B7A"/>
                </a:solidFill>
                <a:latin typeface="Calibri"/>
              </a:rPr>
              <a:t>github.com</a:t>
            </a:r>
            <a:r>
              <a:rPr sz="2000" dirty="0">
                <a:solidFill>
                  <a:srgbClr val="5B6B7A"/>
                </a:solidFill>
                <a:latin typeface="Calibri"/>
              </a:rPr>
              <a:t>/euibeom135-cell/acop2026-hackathon-team1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on the ≥45% responder rule. Absolute change mostly reflects baseline (room to improve); on relative change the same axis still predicts, modestly (R² ≈ 0.15, AUC 0.75).</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median R² ≈ 0.6 on absolute change, mostly baseline arithmetic; ≈ 0.15 on relative change, every method</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median R² 0.06 to 0.12 across 20 splits,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0.54 vs linear 0.30 to 0.35 (20-split medians); one threshold brings linear to ≈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11120"/>
        </p:xfrm>
        <a:graphic>
          <a:graphicData uri="http://schemas.openxmlformats.org/drawingml/2006/table">
            <a:tbl>
              <a:tblPr/>
              <a:tblGrid>
                <a:gridCol w="2103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8580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4709160"/>
            <a:ext cx="4663440" cy="1280160"/>
          </a:xfrm>
          <a:prstGeom prst="rect">
            <a:avLst/>
          </a:prstGeom>
          <a:noFill/>
          <a:ln/>
        </p:spPr>
        <p:txBody>
          <a:bodyPr wrap="square" lIns="0" tIns="0" rIns="0" bIns="0" rtlCol="0" anchor="ctr"/>
          <a:lstStyle/>
          <a:p>
            <a:pPr marL="0" indent="0">
              <a:buNone/>
            </a:pPr>
            <a:r>
              <a:rPr lang="en-US" sz="1400" dirty="0">
                <a:solidFill>
                  <a:srgbClr val="1F2933"/>
                </a:solidFill>
                <a:latin typeface="Calibri"/>
              </a:rPr>
              <a:t>Claude (via Claude Code) and Codex drafted code, documentation and slides. All decisions and interpretations were reviewed by the team, which is accountable for the results.</a:t>
            </a:r>
            <a:r>
              <a:rPr sz="1400">
                <a:latin typeface="Calibri"/>
              </a:rPr>
              <a:t> Full record: github.com/euibeom135-cell/acop2026-hackathon-team1</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latin typeface="Calibri"/>
              </a:rPr>
              <a:t>Filled dot = selected. Final call requires 4 of 5 methods and LASSO bootstrap stability ≥ 60% (signal); 2 votes and ≥ 20% (uncertain).</a:t>
            </a:r>
            <a:r>
              <a:rPr sz="1300">
                <a:solidFill>
                  <a:srgbClr val="5B6B7A"/>
                </a:solidFill>
                <a:latin typeface="Calibri"/>
              </a:rPr>
              <a:t> Secondary candidate seen in two of three pipelines: disease duration (longer duration, less response), borderline 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2861</Words>
  <Application>Microsoft Macintosh PowerPoint</Application>
  <PresentationFormat>Widescreen</PresentationFormat>
  <Paragraphs>169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5</cp:revision>
  <dcterms:created xsi:type="dcterms:W3CDTF">2026-10-13T06:04:49Z</dcterms:created>
  <dcterms:modified xsi:type="dcterms:W3CDTF">2026-10-13T13:33:44Z</dcterms:modified>
</cp:coreProperties>
</file>