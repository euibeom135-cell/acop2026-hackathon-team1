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Talk" id="{f4ba123e-a822-f7df-0a71-7f8aac630db1}">
          <p14:sldIdLst>
            <p14:sldId id="256"/>
            <p14:sldId id="257"/>
            <p14:sldId id="258"/>
            <p14:sldId id="259"/>
            <p14:sldId id="260"/>
            <p14:sldId id="261"/>
          </p14:sldIdLst>
        </p14:section>
        <p14:section name="Backup" id="{46597664-70fb-f201-57ba-708c91709204}">
          <p14:sldIdLst>
            <p14:sldId id="262"/>
            <p14:sldId id="263"/>
            <p14:sldId id="264"/>
            <p14:sldId id="26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30 seconds. Say the direction once: for mexiletine a lower change is better; for the other two drugs higher is better.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answer first. One predictor per drug; it matches the mechanism; every method agrees; ML adds nothing. The numbers are responder rates among held-out test patients above and below the cut-off a training-set tree chose.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50 seconds. The chain is the disease; the orange labels are where each drug acts. Right column: the kickoff workflow, and the three noise checks. Cleaning catch: albumin constant in one arm.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80 seconds. Forest plot: reference patient = median covariates, adult onset; dashed line = its responder probability; rows = key covariate at its 10th and 90th percentile, then each onset type; lines = 90% bootstrap intervals, training patients. Presented in the standard pharmacometric covariate format. Noise list if asked: sex, BMI, smoking, cataracts, CK, PR interval, albumin were noise in every arm; disease duration borderline everywhere.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60 seconds. Blue = covariate models, orange = ML, test-set R² for the continuous outcome. Intervals overlap within every arm (about 41 test patients), so we do not rank methods inside an arm; the one solid contrast is linear vs tree in tideglusib, and we know why. ML was the check that nothing was missed; it found the same leaders by permutation importance and SHAP.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40 seconds. The stratification sentence, then the limits before a judge asks, then the disclosure. Robustness line if time: we repeated the split 20 times and the pattern held in every arm.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011680"/>
            <a:ext cx="106984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000000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11880"/>
            <a:ext cx="10698480" cy="21945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rgbClr val="404040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00000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01168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000000"/>
                </a:solidFill>
              </a:rPr>
              <a:t>Beyond CTG repeats: one predictor per drug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11880"/>
            <a:ext cx="10698480" cy="21945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800" dirty="0">
                <a:solidFill>
                  <a:srgbClr val="404040"/>
                </a:solidFill>
              </a:rPr>
              <a:t>Covariate modelling versus machine learning for treatment-response stratification in myotonic dystrophy type 1</a:t>
            </a:r>
            <a:endParaRPr lang="en-US" sz="1800" dirty="0"/>
          </a:p>
          <a:p>
            <a:pPr algn="l" indent="0" marL="0">
              <a:buNone/>
            </a:pPr>
            <a:r>
              <a:rPr lang="en-US" sz="800" dirty="0">
                <a:solidFill>
                  <a:srgbClr val="404040"/>
                </a:solidFill>
              </a:rPr>
              <a:t> </a:t>
            </a:r>
            <a:endParaRPr lang="en-US" sz="18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404040"/>
                </a:solidFill>
              </a:rPr>
              <a:t>Team 1  ·  Euibeom Shin, Wenzhe Ma, Leo Vuong, Bei Zhao, Ming Gao, Izumi Hamada</a:t>
            </a:r>
            <a:endParaRPr lang="en-US" sz="18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404040"/>
                </a:solidFill>
              </a:rPr>
              <a:t>ACoP 2026 Hackathon  ·  14 October 2026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00000"/>
                </a:solidFill>
              </a:rPr>
              <a:t>Each arm has a single dominant baseline predictor, and it is the measure closest to the drug's site of action</a:t>
            </a:r>
            <a:endParaRPr lang="en-US" sz="28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642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2468880"/>
                <a:gridCol w="1920240"/>
                <a:gridCol w="2194560"/>
                <a:gridCol w="246888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Drug</a:t>
                      </a:r>
                      <a:endParaRPr lang="en-US" sz="13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Site of action</a:t>
                      </a:r>
                      <a:endParaRPr lang="en-US" sz="13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Dominant predictor</a:t>
                      </a:r>
                      <a:endParaRPr lang="en-US" sz="13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Responder rate in the held-out test set, above vs below cut-off</a:t>
                      </a:r>
                      <a:endParaRPr lang="en-US" sz="13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Selection evidence</a:t>
                      </a:r>
                      <a:endParaRPr lang="en-US" sz="13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</a:rPr>
                        <a:t>Mexiletine</a:t>
                      </a:r>
                      <a:endParaRPr lang="en-US" sz="13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</a:rPr>
                        <a:t>Symptomatic: muscle sodium channel</a:t>
                      </a:r>
                      <a:endParaRPr lang="en-US" sz="13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</a:rPr>
                        <a:t>Myotonia severity</a:t>
                      </a:r>
                      <a:endParaRPr lang="en-US" sz="13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</a:rPr>
                        <a:t>67% vs 10%</a:t>
                      </a:r>
                      <a:endParaRPr lang="en-US" sz="13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</a:rPr>
                        <a:t>Selected by 5 of 5 methods; retained in 100% of 200 bootstrap resamples</a:t>
                      </a:r>
                      <a:endParaRPr lang="en-US" sz="13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</a:rPr>
                        <a:t>Antisense oligonucleotide</a:t>
                      </a:r>
                      <a:endParaRPr lang="en-US" sz="13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</a:rPr>
                        <a:t>Disease-modifying: toxic DMPK transcript</a:t>
                      </a:r>
                      <a:endParaRPr lang="en-US" sz="13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</a:rPr>
                        <a:t>CTG repeat length</a:t>
                      </a:r>
                      <a:endParaRPr lang="en-US" sz="13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</a:rPr>
                        <a:t>59% vs 31%</a:t>
                      </a:r>
                      <a:endParaRPr lang="en-US" sz="13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</a:rPr>
                        <a:t>5 of 5 methods; 90% of resamples</a:t>
                      </a:r>
                      <a:endParaRPr lang="en-US" sz="13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</a:rPr>
                        <a:t>Tideglusib</a:t>
                      </a:r>
                      <a:endParaRPr lang="en-US" sz="13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</a:rPr>
                        <a:t>Multisystem: GSK3β signalling, including CNS</a:t>
                      </a:r>
                      <a:endParaRPr lang="en-US" sz="13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</a:rPr>
                        <a:t>Cognitive function</a:t>
                      </a:r>
                      <a:endParaRPr lang="en-US" sz="13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</a:rPr>
                        <a:t>74% vs 17%</a:t>
                      </a:r>
                      <a:endParaRPr lang="en-US" sz="13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</a:rPr>
                        <a:t>5 of 5 methods; 100% of resamples; threshold effect near z = -0.5</a:t>
                      </a:r>
                      <a:endParaRPr lang="en-US" sz="13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548640" y="4572000"/>
            <a:ext cx="11064240" cy="1417320"/>
          </a:xfrm>
          <a:prstGeom prst="roundRect">
            <a:avLst>
              <a:gd name="adj" fmla="val 5161"/>
            </a:avLst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470916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933"/>
                </a:solidFill>
              </a:rPr>
              <a:t>Machine learning identified no additional predictors. </a:t>
            </a:r>
            <a:pPr indent="0" marL="0">
              <a:buNone/>
            </a:pPr>
            <a:r>
              <a:rPr lang="en-US" sz="1600" dirty="0">
                <a:solidFill>
                  <a:srgbClr val="1F2933"/>
                </a:solidFill>
              </a:rPr>
              <a:t>Random forest and XGBoost ranked the same covariates first in every arm and outperformed linear models in one arm only, where the effect is a threshold; a linear model with that single threshold recovers most of the gap. </a:t>
            </a:r>
            <a:pPr indent="0" marL="0">
              <a:buNone/>
            </a:pPr>
            <a:r>
              <a:rPr lang="en-US" sz="1600" b="1" dirty="0">
                <a:solidFill>
                  <a:srgbClr val="1F2933"/>
                </a:solidFill>
              </a:rPr>
              <a:t>A simulated pure-noise covariate, included as a negative control, was never selected.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00000"/>
                </a:solidFill>
              </a:rPr>
              <a:t>The three drugs act at different points of the DM1 pathogenic cascade, so each arm was analysed separately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508760"/>
            <a:ext cx="2011680" cy="868680"/>
          </a:xfrm>
          <a:prstGeom prst="roundRect">
            <a:avLst>
              <a:gd name="adj" fmla="val 8421"/>
            </a:avLst>
          </a:prstGeom>
          <a:solidFill>
            <a:srgbClr val="3A3F45"/>
          </a:solidFill>
          <a:ln w="12700">
            <a:solidFill>
              <a:srgbClr val="3A3F45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508760"/>
            <a:ext cx="2011680" cy="86868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</a:rPr>
              <a:t>CTG repeat expansion in DMPK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2596896" y="1810512"/>
            <a:ext cx="182880" cy="274320"/>
          </a:xfrm>
          <a:prstGeom prst="rightArrow">
            <a:avLst/>
          </a:prstGeom>
          <a:solidFill>
            <a:srgbClr val="9AA3AD"/>
          </a:solidFill>
          <a:ln w="12700">
            <a:solidFill>
              <a:srgbClr val="9AA3A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811780" y="1508760"/>
            <a:ext cx="2011680" cy="868680"/>
          </a:xfrm>
          <a:prstGeom prst="roundRect">
            <a:avLst>
              <a:gd name="adj" fmla="val 8421"/>
            </a:avLst>
          </a:prstGeom>
          <a:solidFill>
            <a:srgbClr val="3A3F45"/>
          </a:solidFill>
          <a:ln w="12700">
            <a:solidFill>
              <a:srgbClr val="3A3F45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811780" y="1508760"/>
            <a:ext cx="2011680" cy="86868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</a:rPr>
              <a:t>Toxic CUG-repeat RNA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860036" y="1810512"/>
            <a:ext cx="182880" cy="274320"/>
          </a:xfrm>
          <a:prstGeom prst="rightArrow">
            <a:avLst/>
          </a:prstGeom>
          <a:solidFill>
            <a:srgbClr val="9AA3AD"/>
          </a:solidFill>
          <a:ln w="12700">
            <a:solidFill>
              <a:srgbClr val="9AA3AD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720340" y="2441448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D95F0E"/>
                </a:solidFill>
              </a:rPr>
              <a:t>Antisense oligonucleotide: DMPK transcript knockdown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074920" y="1508760"/>
            <a:ext cx="2011680" cy="868680"/>
          </a:xfrm>
          <a:prstGeom prst="roundRect">
            <a:avLst>
              <a:gd name="adj" fmla="val 8421"/>
            </a:avLst>
          </a:prstGeom>
          <a:solidFill>
            <a:srgbClr val="3A3F45"/>
          </a:solidFill>
          <a:ln w="12700">
            <a:solidFill>
              <a:srgbClr val="3A3F45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074920" y="1508760"/>
            <a:ext cx="2011680" cy="86868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</a:rPr>
              <a:t>MBNL1 sequestration, GSK3β activation: mis-splicing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123176" y="1810512"/>
            <a:ext cx="182880" cy="274320"/>
          </a:xfrm>
          <a:prstGeom prst="rightArrow">
            <a:avLst/>
          </a:prstGeom>
          <a:solidFill>
            <a:srgbClr val="9AA3AD"/>
          </a:solidFill>
          <a:ln w="12700">
            <a:solidFill>
              <a:srgbClr val="9AA3A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983480" y="2441448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D95F0E"/>
                </a:solidFill>
              </a:rPr>
              <a:t>Tideglusib: GSK3β inhibition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7338060" y="1508760"/>
            <a:ext cx="2011680" cy="868680"/>
          </a:xfrm>
          <a:prstGeom prst="roundRect">
            <a:avLst>
              <a:gd name="adj" fmla="val 8421"/>
            </a:avLst>
          </a:prstGeom>
          <a:solidFill>
            <a:srgbClr val="3A3F45"/>
          </a:solidFill>
          <a:ln w="12700">
            <a:solidFill>
              <a:srgbClr val="3A3F4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338060" y="1508760"/>
            <a:ext cx="2011680" cy="86868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</a:rPr>
              <a:t>Multisystem involvement: muscle, CNS, heart, eye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9386316" y="1810512"/>
            <a:ext cx="182880" cy="274320"/>
          </a:xfrm>
          <a:prstGeom prst="rightArrow">
            <a:avLst/>
          </a:prstGeom>
          <a:solidFill>
            <a:srgbClr val="9AA3AD"/>
          </a:solidFill>
          <a:ln w="12700">
            <a:solidFill>
              <a:srgbClr val="9AA3A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601200" y="1508760"/>
            <a:ext cx="2011680" cy="868680"/>
          </a:xfrm>
          <a:prstGeom prst="roundRect">
            <a:avLst>
              <a:gd name="adj" fmla="val 8421"/>
            </a:avLst>
          </a:prstGeom>
          <a:solidFill>
            <a:srgbClr val="3A3F45"/>
          </a:solidFill>
          <a:ln w="12700">
            <a:solidFill>
              <a:srgbClr val="3A3F45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601200" y="1508760"/>
            <a:ext cx="2011680" cy="86868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</a:rPr>
              <a:t>Clinical phenotype: myotonia, weakness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9509760" y="2441448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D95F0E"/>
                </a:solidFill>
              </a:rPr>
              <a:t>Mexiletine: sodium-channel blockade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324612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</a:rPr>
              <a:t>Dataset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3657600"/>
            <a:ext cx="521208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</a:rPr>
              <a:t>500 simulated patients, one treatment each: n = 161 / 170 / 169; responder rate 29% / 41% / 48%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</a:rPr>
              <a:t>18 baseline covariates: genetic burden, disease stage, muscle, CNS, cardiac, ophthalmic, metabolic and demographic; some are noise by design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</a:rPr>
              <a:t>Data review: no missing values; albumin is a single imputed constant in the mexiletine arm and was excluded there. CK floor at 50 U/L and mosaicism index of 0 retained as observed. No patients excluded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6217920" y="324612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</a:rPr>
              <a:t>Analysis workflow, per arm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6217920" y="3657600"/>
            <a:ext cx="53949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</a:rPr>
              <a:t>75/25 train/test split stratified by responder status and onset phenotype, fixed seed; test set evaluated once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</a:rPr>
              <a:t>All model selection and tuning by 5-fold cross-validation within the training set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</a:rPr>
              <a:t>Covariate models: stepwise selection (BIC), LASSO, elastic net. Machine learning: random forest, XGBoost (untuned and tuned)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</a:rPr>
              <a:t>Noise control: a pure-noise covariate as negative control, selection stability over 200 bootstrap resamples, and agreement across the five methods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00000"/>
                </a:solidFill>
              </a:rPr>
              <a:t>Across the range of the dominant covariate, predicted response spans roughly 15% to 85%; onset phenotype adds little</a:t>
            </a:r>
            <a:endParaRPr lang="en-US" sz="2800" dirty="0"/>
          </a:p>
        </p:txBody>
      </p:sp>
      <p:pic>
        <p:nvPicPr>
          <p:cNvPr id="3" name="Image 0" descr="/Users/euibeoms/Desktop/ACoP/hackathon/slides/figs/fig_forest_sli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5486400" cy="4864608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400800" y="137160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</a:rPr>
              <a:t>Mexiletine: myotonia severity</a:t>
            </a:r>
            <a:endParaRPr lang="en-US" sz="1500" dirty="0"/>
          </a:p>
        </p:txBody>
      </p:sp>
      <p:sp>
        <p:nvSpPr>
          <p:cNvPr id="5" name="Text 2"/>
          <p:cNvSpPr txBox="1"/>
          <p:nvPr/>
        </p:nvSpPr>
        <p:spPr>
          <a:xfrm>
            <a:off x="6400800" y="1719072"/>
            <a:ext cx="5212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933"/>
                </a:solidFill>
              </a:rPr>
              <a:t>Predicted response 17% → 38% from the 10th to the 90th percentile. A symptomatic agent: effect size scales with baseline symptom burden. Late-onset patients respond less because baseline myotonia is mild.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6400800" y="260604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</a:rPr>
              <a:t>Antisense oligonucleotide: CTG repeat length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6400800" y="2953512"/>
            <a:ext cx="5212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933"/>
                </a:solidFill>
              </a:rPr>
              <a:t>Predicted response 22% → 75%. The sole predictor. A target-engaging agent: effect scales with the amount of target transcript. Individual-level prediction remains poor (test R² &lt; 0.1).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6400800" y="384048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</a:rPr>
              <a:t>Tideglusib: cognitive function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6400800" y="4187952"/>
            <a:ext cx="5212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933"/>
                </a:solidFill>
              </a:rPr>
              <a:t>Predicted response 87% → 14%, as a threshold near z = -0.5 rather than a gradient. The composite endpoint includes a cognitive domain, so intact cognition leaves no room for measurable gain: a ceiling effect.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6400800" y="5166360"/>
            <a:ext cx="5212080" cy="1051560"/>
          </a:xfrm>
          <a:prstGeom prst="roundRect">
            <a:avLst>
              <a:gd name="adj" fmla="val 6957"/>
            </a:avLst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583680" y="5257800"/>
            <a:ext cx="4846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2933"/>
                </a:solidFill>
              </a:rPr>
              <a:t>Independently replicated. </a:t>
            </a:r>
            <a:pPr indent="0" marL="0">
              <a:buNone/>
            </a:pPr>
            <a:r>
              <a:rPr lang="en-US" sz="1250" dirty="0">
                <a:solidFill>
                  <a:srgbClr val="1F2933"/>
                </a:solidFill>
              </a:rPr>
              <a:t>Three team members, three implementations (R, R, Python), different splits, up to 30 methods and 20 repeated splits identified the same three covariates. CTG repeat length behaves as a prognostic marker across arms; cognitive function is specific to the tideglusib arm.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00000"/>
                </a:solidFill>
              </a:rPr>
              <a:t>Covariate models match machine learning in two arms; tree ensembles lead in the third only because the effect is a threshold</a:t>
            </a:r>
            <a:endParaRPr lang="en-US" sz="2800" dirty="0"/>
          </a:p>
        </p:txBody>
      </p:sp>
      <p:pic>
        <p:nvPicPr>
          <p:cNvPr id="3" name="Image 0" descr="/Users/euibeoms/Desktop/ACoP/hackathon/slides/figs/fig_scorebo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11064240" cy="402336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544068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</a:rPr>
              <a:t>Mexiletine: equivalent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76072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</a:rPr>
              <a:t>Test R² 0.47 to 0.54 for every method; across 20 repeated splits the top rank alternates between stepwise selection and tuned XGBoost.</a:t>
            </a:r>
            <a:endParaRPr lang="en-US" sz="1150" dirty="0"/>
          </a:p>
        </p:txBody>
      </p:sp>
      <p:sp>
        <p:nvSpPr>
          <p:cNvPr id="6" name="Text 3"/>
          <p:cNvSpPr txBox="1"/>
          <p:nvPr/>
        </p:nvSpPr>
        <p:spPr>
          <a:xfrm>
            <a:off x="4297680" y="544068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</a:rPr>
              <a:t>Oligonucleotide: low predictability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4297680" y="576072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</a:rPr>
              <a:t>Test R² &lt; 0.1 for every method on every split. The repeat-length effect is consistent, but residual between-patient variability dominates.</a:t>
            </a:r>
            <a:endParaRPr lang="en-US" sz="1150" dirty="0"/>
          </a:p>
        </p:txBody>
      </p:sp>
      <p:sp>
        <p:nvSpPr>
          <p:cNvPr id="8" name="Text 5"/>
          <p:cNvSpPr txBox="1"/>
          <p:nvPr/>
        </p:nvSpPr>
        <p:spPr>
          <a:xfrm>
            <a:off x="8046720" y="544068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5F0E"/>
                </a:solidFill>
              </a:rPr>
              <a:t>Tideglusib: tree ensembles lead, because of a threshold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046720" y="576072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</a:rPr>
              <a:t>Random forest and XGBoost R² 0.55 vs linear 0.24 to 0.30, on 19 of 20 splits. A linear model with a single threshold on cognition reaches 0.45. Tuned XGBoost selected depth-1 trees: no interactions.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00000"/>
                </a:solidFill>
              </a:rPr>
              <a:t>Stratify on the measure closest to the drug's target: one routine baseline assessment per arm separates response rates two- to seven-fold</a:t>
            </a:r>
            <a:endParaRPr lang="en-US" sz="28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1737360"/>
                <a:gridCol w="1920240"/>
                <a:gridCol w="1645920"/>
                <a:gridCol w="384048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Treatment</a:t>
                      </a:r>
                      <a:endParaRPr lang="en-US" sz="13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Baseline measure</a:t>
                      </a:r>
                      <a:endParaRPr lang="en-US" sz="13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Cut-off (training-set tree)</a:t>
                      </a:r>
                      <a:endParaRPr lang="en-US" sz="13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Held-out responder rate</a:t>
                      </a:r>
                      <a:endParaRPr lang="en-US" sz="13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Trial-design implication</a:t>
                      </a:r>
                      <a:endParaRPr lang="en-US" sz="13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</a:rPr>
                        <a:t>Mexiletine</a:t>
                      </a:r>
                      <a:endParaRPr lang="en-US" sz="13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</a:rPr>
                        <a:t>Myotonia severity</a:t>
                      </a:r>
                      <a:endParaRPr lang="en-US" sz="13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</a:rPr>
                        <a:t>About 5 or more</a:t>
                      </a:r>
                      <a:endParaRPr lang="en-US" sz="13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</a:rPr>
                        <a:t>67% vs 10%</a:t>
                      </a:r>
                      <a:endParaRPr lang="en-US" sz="13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</a:rPr>
                        <a:t>Enrol on baseline myotonia severity rather than diagnosis alone; mild cases dilute the treatment effect</a:t>
                      </a:r>
                      <a:endParaRPr lang="en-US" sz="13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</a:rPr>
                        <a:t>Antisense oligonucleotide</a:t>
                      </a:r>
                      <a:endParaRPr lang="en-US" sz="13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</a:rPr>
                        <a:t>CTG repeat length</a:t>
                      </a:r>
                      <a:endParaRPr lang="en-US" sz="13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</a:rPr>
                        <a:t>About 350 or more</a:t>
                      </a:r>
                      <a:endParaRPr lang="en-US" sz="13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</a:rPr>
                        <a:t>59% vs 31%</a:t>
                      </a:r>
                      <a:endParaRPr lang="en-US" sz="13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</a:rPr>
                        <a:t>Stratify randomisation on CTG repeat length, a prognostic factor</a:t>
                      </a:r>
                      <a:endParaRPr lang="en-US" sz="13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</a:rPr>
                        <a:t>Tideglusib</a:t>
                      </a:r>
                      <a:endParaRPr lang="en-US" sz="13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</a:rPr>
                        <a:t>Cognitive function</a:t>
                      </a:r>
                      <a:endParaRPr lang="en-US" sz="13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</a:rPr>
                        <a:t>Below about -0.5</a:t>
                      </a:r>
                      <a:endParaRPr lang="en-US" sz="13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</a:rPr>
                        <a:t>74% vs 17%</a:t>
                      </a:r>
                      <a:endParaRPr lang="en-US" sz="13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</a:rPr>
                        <a:t>Enrich for cognitive impairment: expected responder rate 48% → 74%, reducing required sample size</a:t>
                      </a:r>
                      <a:endParaRPr lang="en-US" sz="13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40690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</a:rPr>
              <a:t>Limitations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4434840"/>
            <a:ext cx="54864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</a:rPr>
              <a:t>No placebo arm: predictors are prognostic within treated patients, not demonstrated effect modifiers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</a:rPr>
              <a:t>About 41 test patients per arm: cut-offs are approximate, and methods are not ranked within an arm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</a:rPr>
              <a:t>Cross-sectional endpoint. Next step: a longitudinal disease-progression model with these covariates on progression rate and drug effect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6492240" y="406908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</a:rPr>
              <a:t>AI disclosure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6492240" y="4434840"/>
            <a:ext cx="5120640" cy="1783080"/>
          </a:xfrm>
          <a:prstGeom prst="roundRect">
            <a:avLst>
              <a:gd name="adj" fmla="val 4103"/>
            </a:avLst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675120" y="4526280"/>
            <a:ext cx="47548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3"/>
                </a:solidFill>
              </a:rPr>
              <a:t>Claude (Anthropic, via Claude Code) and Codex were used to draft code, documentation and this deck, as noted in the code headers and AI_DISCLOSURE.md. All analysis decisions and interpretations were reviewed by the team, which is accountable for the results.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00000"/>
                </a:solidFill>
              </a:rPr>
              <a:t>Backup: results are robust to the train/test split (20 seeds)</a:t>
            </a:r>
            <a:endParaRPr lang="en-US" sz="2800" dirty="0"/>
          </a:p>
        </p:txBody>
      </p:sp>
      <p:pic>
        <p:nvPicPr>
          <p:cNvPr id="3" name="Image 0" descr="/Users/euibeoms/Desktop/ACoP/hackathon/slides/figs/fig_sensitivity_spli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11064240" cy="452628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59436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B7A"/>
                </a:solidFill>
              </a:rPr>
              <a:t>Test-set R², continuous endpoint, 20 random splits. Mexiletine: methods equivalent (median ≈ 0.6). Oligonucleotide: all methods weak (medians 0.06 to 0.12). Tideglusib: a tree ensemble ranked first in 19 of 20 splits; a linear model never did. Absolute R² varies by up to 0.15 between splits, hence ranges rather than point estimates.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00000"/>
                </a:solidFill>
              </a:rPr>
              <a:t>Backup: covariate selection by method and arm</a:t>
            </a:r>
            <a:endParaRPr lang="en-US" sz="2800" dirty="0"/>
          </a:p>
        </p:txBody>
      </p:sp>
      <p:pic>
        <p:nvPicPr>
          <p:cNvPr id="3" name="Image 0" descr="/Users/euibeoms/Desktop/ACoP/hackathon/slides/figs/fig_covariate_matri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7280" y="1325880"/>
            <a:ext cx="9966960" cy="45720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59436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B7A"/>
                </a:solidFill>
              </a:rPr>
              <a:t>Filled dot = selected. The three covariate-model columns agree on one covariate per arm. The ML columns are fuller because their criterion (importance above the noise covariate) is permissive; the final call also requires LASSO bootstrap stability of 60% (signal) or 20% (uncertain).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00000"/>
                </a:solidFill>
              </a:rPr>
              <a:t>Backup: the dominant covariate holds within each onset phenotype; an exploratory treatment-allocation view</a:t>
            </a:r>
            <a:endParaRPr lang="en-US" sz="28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3931920"/>
                <a:gridCol w="1783080"/>
                <a:gridCol w="1783080"/>
                <a:gridCol w="1783080"/>
                <a:gridCol w="178308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Arm, key covariate</a:t>
                      </a:r>
                      <a:endParaRPr lang="en-US" sz="13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Adult onset</a:t>
                      </a:r>
                      <a:endParaRPr lang="en-US" sz="13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Juvenile onset</a:t>
                      </a:r>
                      <a:endParaRPr lang="en-US" sz="13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Late onset</a:t>
                      </a:r>
                      <a:endParaRPr lang="en-US" sz="13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Interaction p</a:t>
                      </a:r>
                      <a:endParaRPr lang="en-US" sz="13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</a:rPr>
                        <a:t>Mexiletine, myotonia severity (slope per unit)</a:t>
                      </a:r>
                      <a:endParaRPr lang="en-US" sz="13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</a:rPr>
                        <a:t>-0.51 (n 71)</a:t>
                      </a:r>
                      <a:endParaRPr lang="en-US" sz="13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</a:rPr>
                        <a:t>-0.66 (n 28)</a:t>
                      </a:r>
                      <a:endParaRPr lang="en-US" sz="13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</a:rPr>
                        <a:t>-0.25 (n 21)</a:t>
                      </a:r>
                      <a:endParaRPr lang="en-US" sz="13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</a:rPr>
                        <a:t>0.03</a:t>
                      </a:r>
                      <a:endParaRPr lang="en-US" sz="13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</a:rPr>
                        <a:t>Oligonucleotide, CTG repeats (slope per repeat)</a:t>
                      </a:r>
                      <a:endParaRPr lang="en-US" sz="13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</a:rPr>
                        <a:t>0.005 (n 78)</a:t>
                      </a:r>
                      <a:endParaRPr lang="en-US" sz="13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</a:rPr>
                        <a:t>0.006 (n 23)</a:t>
                      </a:r>
                      <a:endParaRPr lang="en-US" sz="13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</a:rPr>
                        <a:t>0.014 (n 26)</a:t>
                      </a:r>
                      <a:endParaRPr lang="en-US" sz="13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</a:rPr>
                        <a:t>0.50</a:t>
                      </a:r>
                      <a:endParaRPr lang="en-US" sz="13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</a:rPr>
                        <a:t>Tideglusib, cognitive function (slope per z)</a:t>
                      </a:r>
                      <a:endParaRPr lang="en-US" sz="13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</a:rPr>
                        <a:t>-3.1 (n 83)</a:t>
                      </a:r>
                      <a:endParaRPr lang="en-US" sz="13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</a:rPr>
                        <a:t>-4.4 (n 24)</a:t>
                      </a:r>
                      <a:endParaRPr lang="en-US" sz="13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</a:rPr>
                        <a:t>-1.3 (n 21)</a:t>
                      </a:r>
                      <a:endParaRPr lang="en-US" sz="13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</a:rPr>
                        <a:t>0.16</a:t>
                      </a:r>
                      <a:endParaRPr lang="en-US" sz="13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34290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F2933"/>
                </a:solidFill>
              </a:rPr>
              <a:t>Same direction within every onset phenotype in every arm (training set). Only the mexiletine slope differs by phenotype: attenuated in late onset, where baseline myotonia is mild.</a:t>
            </a:r>
            <a:endParaRPr lang="en-US" sz="125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41148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</a:rPr>
              <a:t>Treatment allocation by covariate profile (exploratory)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4480560"/>
            <a:ext cx="110642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</a:rPr>
              <a:t>Each arm's responder model applied to all training patients, expressed relative to that arm's average patient. Highest relative likelihood: mexiletine for 12% (severe myotonia, median ≈ 530 repeats), tideglusib for 35% (cognitive impairment), the oligonucleotide for the remainder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</a:rPr>
              <a:t>Extrapolation across arms; no outcome information crosses arms. Hypothesis-generating only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</a:rPr>
              <a:t>The data dictionary states that arm assignment was weighted by patient fit; observed arm matches the predicted best arm for 41% of patients versus 33% expected by chance, so the weighting was mild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00000"/>
                </a:solidFill>
              </a:rPr>
              <a:t>Backup: references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11064240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rgbClr val="1F2933"/>
                </a:solidFill>
              </a:rPr>
              <a:t>1. Morales F et al. Somatic instability of the expanded CTG repeat in DM1 is a heritable quantitative trait and modifier of disease severity. Hum Mol Genet 2012;21:3558-67.</a:t>
            </a:r>
            <a:endParaRPr lang="en-US" sz="12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rgbClr val="1F2933"/>
                </a:solidFill>
              </a:rPr>
              <a:t>2. Cumming SA et al. Genetic determinants of disease severity in the DM1 OPTIMISTIC cohort. Neurology 2019;93:e995-e1009.</a:t>
            </a:r>
            <a:endParaRPr lang="en-US" sz="12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rgbClr val="1F2933"/>
                </a:solidFill>
              </a:rPr>
              <a:t>3. De Antonio M et al. Unravelling the DM1 clinical spectrum: a systematic registry-based study. Rev Neurol (Paris) 2016;172:572-80.</a:t>
            </a:r>
            <a:endParaRPr lang="en-US" sz="12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rgbClr val="1F2933"/>
                </a:solidFill>
              </a:rPr>
              <a:t>4. Okkersen K et al. Brain imaging in myotonic dystrophy type 1: a systematic review. Neurology 2017;89:960-9.</a:t>
            </a:r>
            <a:endParaRPr lang="en-US" sz="12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rgbClr val="1F2933"/>
                </a:solidFill>
              </a:rPr>
              <a:t>5. Logigian EL et al. Mexiletine is an effective antimyotonia treatment in DM1. Neurology 2010;74:1441-8.</a:t>
            </a:r>
            <a:endParaRPr lang="en-US" sz="12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rgbClr val="1F2933"/>
                </a:solidFill>
              </a:rPr>
              <a:t>6. Heatwole C et al. Mexiletine in myotonic dystrophy type 1: a randomized, double-blind, placebo-controlled trial. Neurology 2021;96:e228-e240.</a:t>
            </a:r>
            <a:endParaRPr lang="en-US" sz="12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rgbClr val="1F2933"/>
                </a:solidFill>
              </a:rPr>
              <a:t>7. Thornton CA et al. Antisense oligonucleotide targeting DMPK in patients with DM1: phase 1/2a trial. Lancet Neurol 2023;22:218-28.</a:t>
            </a:r>
            <a:endParaRPr lang="en-US" sz="12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rgbClr val="1F2933"/>
                </a:solidFill>
              </a:rPr>
              <a:t>8. Jones K et al. GSK3β mediates muscle pathology in myotonic dystrophy. J Clin Invest 2012;122:4461-72.</a:t>
            </a:r>
            <a:endParaRPr lang="en-US" sz="12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rgbClr val="1F2933"/>
                </a:solidFill>
              </a:rPr>
              <a:t>9. Horrigan J et al. A phase 2 study of AMO-02 (tideglusib) in congenital and childhood-onset DM1. Pediatr Neurol 2020;112:84-93.</a:t>
            </a:r>
            <a:endParaRPr lang="en-US" sz="12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rgbClr val="1F2933"/>
                </a:solidFill>
              </a:rPr>
              <a:t>10. Hutmacher MM, Kowalski KG. Covariate selection in pharmacometric analyses: a review of methods. Br J Clin Pharmacol 2015;79:132-47.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eam 1 DM1">
  <a:themeElements>
    <a:clrScheme name="Team 1 DM1">
      <a:dk1>
        <a:srgbClr val="1F2933"/>
      </a:dk1>
      <a:lt1>
        <a:srgbClr val="FFFFFF"/>
      </a:lt1>
      <a:dk2>
        <a:srgbClr val="1E3A5F"/>
      </a:dk2>
      <a:lt2>
        <a:srgbClr val="EEF2F6"/>
      </a:lt2>
      <a:accent1>
        <a:srgbClr val="2C7FB8"/>
      </a:accent1>
      <a:accent2>
        <a:srgbClr val="D95F0E"/>
      </a:accent2>
      <a:accent3>
        <a:srgbClr val="5B6B7A"/>
      </a:accent3>
      <a:accent4>
        <a:srgbClr val="2A7A2A"/>
      </a:accent4>
      <a:accent5>
        <a:srgbClr val="8DA9C4"/>
      </a:accent5>
      <a:accent6>
        <a:srgbClr val="BFD3E6"/>
      </a:accent6>
      <a:hlink>
        <a:srgbClr val="2C7FB8"/>
      </a:hlink>
      <a:folHlink>
        <a:srgbClr val="5B6B7A"/>
      </a:folHlink>
    </a:clrScheme>
    <a:fontScheme name="Team 1 DM1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Beyond CTG repeats: one predictor per drug</dc:title>
  <dc:subject>PptxGenJS Presentation</dc:subject>
  <dc:creator>Team 1</dc:creator>
  <cp:lastModifiedBy>Team 1</cp:lastModifiedBy>
  <cp:revision>1</cp:revision>
  <dcterms:created xsi:type="dcterms:W3CDTF">2026-10-13T05:43:37Z</dcterms:created>
  <dcterms:modified xsi:type="dcterms:W3CDTF">2026-10-13T05:43:37Z</dcterms:modified>
</cp:coreProperties>
</file>