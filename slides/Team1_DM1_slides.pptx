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726a10da-bdb4-3ff5-9673-b6dbd2433436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c3cf27c8-4da4-2385-a9c5-ecc6b3d43b3c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Say the direction once: for mexiletine a lower change is better; for the other two drugs higher is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first. One predictor per drug; it matches the mechanism; every method agrees; ML adds nothing. The numbers are responder rates among held-out test patients above and below the cut-off a training-set tree chose.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 seconds. The chain is the disease; the orange labels are where each drug acts. Right column: the kickoff workflow, and the three noise checks. Cleaning catch: albumin constant in one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80 seconds. Forest plot: reference patient = median covariates, adult onset; dashed line = its responder probability; rows = key covariate at its 10th and 90th percentile, then each onset type; lines = 90% bootstrap intervals, training patients. Presented in the standard pharmacometric covariate format. Noise list if asked: sex, BMI, smoking, cataracts, CK, PR interval, albumin were noise in every arm; disease duration borderline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seconds. Blue = covariate models, orange = ML, test-set R² for the continuous outcome. Intervals overlap within every arm (about 41 test patients), so we do not rank methods inside an arm; the one solid contrast is linear vs tree in tideglusib, and we know why. ML was the check that nothing was missed; it found the same leaders by permutation importance and SHAP.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seconds. The stratification sentence, then the limits before a judge asks, then the disclosure. Robustness line if time: we repeated the split 20 times and the pattern held in every 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404040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Beyond CTG repeats: one predictor per drug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1188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404040"/>
                </a:solidFill>
              </a:rPr>
              <a:t>Covariate models and machine learning for patient stratification in myotonic dystrophy type 1</a:t>
            </a:r>
            <a:endParaRPr lang="en-US" sz="1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404040"/>
                </a:solidFill>
              </a:rPr>
              <a:t> 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Team 1  ·  Euibeom Shin, Wenzhe Ma, Leo Vuong, Bei Zhao, Ming Gao, Izumi Hamada</a:t>
            </a:r>
            <a:endParaRPr lang="en-US" sz="18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ACoP 2026 Hackathon  ·  14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Each drug has one baseline predictor, and it is the measurement nearest to where the drug acts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468880"/>
                <a:gridCol w="1920240"/>
                <a:gridCol w="2194560"/>
                <a:gridCol w="24688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Drug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Acts 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Main predictor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responders, high vs low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Evidence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The symptom: muscle over-excitability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stable in 100% of 200 resamples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The cause: toxic DMPK RNA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90% stable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Several organs, including brain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 of 5 methods, 100% stable; a step at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7091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Machine learning found no new predictors. </a:t>
            </a:r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</a:rPr>
              <a:t>Random forest and XGBoost chose the same leaders; they predicted better in one arm only, because of a threshold that a one-cut-off linear model recovers. </a:t>
            </a:r>
            <a:pPr indent="0" marL="0">
              <a:buNone/>
            </a:pPr>
            <a:r>
              <a:rPr lang="en-US" sz="1600" b="1" dirty="0">
                <a:solidFill>
                  <a:srgbClr val="1F2933"/>
                </a:solidFill>
              </a:rPr>
              <a:t>A planted column of random numbers was never selected.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Three drugs act at three different links of the same chain, so each arm is analysed on its own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CTG repeat expansion in DMPK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9689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1178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1178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Toxic CUG RNA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6003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2034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Antisense oligonucleotide degrades the RNA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7492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492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MBNL1 trapped, GSK3β up: mis-splicing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12317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8348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Tideglusib inhibits GSK3β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3806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3806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Organ damage: muscle, brain, heart, eye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86316" y="1810512"/>
            <a:ext cx="182880" cy="274320"/>
          </a:xfrm>
          <a:prstGeom prst="rightArrow">
            <a:avLst/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0" y="1508760"/>
            <a:ext cx="2011680" cy="868680"/>
          </a:xfrm>
          <a:prstGeom prst="roundRect">
            <a:avLst>
              <a:gd name="adj" fmla="val 8421"/>
            </a:avLst>
          </a:prstGeom>
          <a:solidFill>
            <a:srgbClr val="3A3F45"/>
          </a:solidFill>
          <a:ln w="12700">
            <a:solidFill>
              <a:srgbClr val="3A3F4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0" y="1508760"/>
            <a:ext cx="2011680" cy="8686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</a:rPr>
              <a:t>Symptoms: myotonia, weakness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509760" y="24414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5F0E"/>
                </a:solidFill>
              </a:rPr>
              <a:t>Mexiletine damps muscle excitability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2461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The data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57600"/>
            <a:ext cx="5212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500 simulated patients, one drug each: 161 / 170 / 169 per arm, 29% / 41% / 48% responders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18 baseline covariates across genetics, disease course, muscle, brain, heart, eye, metabolism and background; some are noise by design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Cleaning: no missing values, but albumin was one filled-in value for every mexiletine patient, so it is dropped in that arm. CK floor at 50 and mosaicism at 0 kept as is. No patient removed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2461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How we analysed each arm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365760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Split first: 75 / 25, balanced on responder status and onset type, fixed seed; the test set is scored once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Every choice by 5-fold cross-validation inside the training set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Covariate models: stepwise (BIC), LASSO, elastic net.  ML: random forest, XGBoost tuned and untuned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</a:rPr>
              <a:t>Noise control: a random-number column added as a covariate, 200 bootstrap resamples for stability, and a vote across the five methods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Across the covariate range, response moves from about 15% to about 80%, and onset type adds little</a:t>
            </a:r>
            <a:endParaRPr lang="en-US" sz="2800" dirty="0"/>
          </a:p>
        </p:txBody>
      </p:sp>
      <p:pic>
        <p:nvPicPr>
          <p:cNvPr id="3" name="Image 0" descr="/Users/euibeoms/Desktop/ACoP/hackathon/slides/figs/fig_forest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4864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Mexiletine: myotonia severity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6400800" y="171907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17% → 38% from the 10th to the 90th percentile. A symptomatic drug: the effect scales with the symptom present. Late onset lower, because there is little myotonia to treat.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606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Antisense oligonucleotide: CTG repeat length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95351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22% → 75%. The only predictor. A target-engagement drug: the effect scales with the substrate. Individual prediction stays weak (R² under 0.1).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</a:rPr>
              <a:t>Tideglusib: cognitive function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4187952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</a:rPr>
              <a:t>Response 87% → 14%, as a step at about -0.5 rather than a slope. A composite endpoint with a cognitive part: normal cognition has no room to improve.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516636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933"/>
                </a:solidFill>
              </a:rPr>
              <a:t>Replicated three times. </a:t>
            </a:r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Three team members, three codebases (R, R, Python), three different splits, up to 30 methods and 20 repeated splits: the same three covariates every time. CTG repeats also trends the same way in the third arm; cognition matters in one arm only.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Simple models tie machine learning in two arms; trees win the third only because the effect is a step</a:t>
            </a:r>
            <a:endParaRPr lang="en-US" sz="2800" dirty="0"/>
          </a:p>
        </p:txBody>
      </p:sp>
      <p:pic>
        <p:nvPicPr>
          <p:cNvPr id="3" name="Image 0" descr="/Users/euibeoms/Desktop/ACoP/hackathon/slides/figs/fig_score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Mexiletine: a tie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Every method 0.47 to 0.54 on the test set; across 20 repeated splits, first place changes hands between stepwise and XGBoost.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</a:rPr>
              <a:t>Oligonucleotide: nobody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R² under 0.1 for every method, on every split. The repeat-length effect is real but patients with the same repeats differ a lot.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5440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5F0E"/>
                </a:solidFill>
              </a:rPr>
              <a:t>Tideglusib: tree models win, because the effect is a step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760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</a:rPr>
              <a:t>Random forest and XGBoost 0.55 vs straight lines 0.24 to 0.30, on 19 of 20 splits. Give the linear model one cut-off and it reaches 0.45. Tuned XGBoost chose one-question trees: no interactions.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Measure the organ the drug acts on: one routine test per drug separates response groups 2- to 7-fold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920240"/>
                <a:gridCol w="1645920"/>
                <a:gridCol w="3840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Before giving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Measure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Rule from a training-set tree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Held-out responders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Trial-design implication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Mexiletine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Myotonia severity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5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67% vs 10%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Enrol by baseline myotonia, not by diagnosis; mild patients dilute the effect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Antisense oligonucleotide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CTG repeat length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About 350 or more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59% vs 31%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Stratify randomisation by repeat length; it is prognostic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</a:rPr>
                        <a:t>Tideglusib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Cognitive function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Below about -0.5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74% vs 17%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Enrich for impaired cognition: expected response 48% → 74%, a smaller trial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069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Limits we state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434840"/>
            <a:ext cx="5486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No placebo arm: this is who does well on the drug, not who the drug helps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About 41 test patients per arm: cut-offs are "about", and we do not rank methods inside an arm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One time point per patient. Next step: a disease-progression model on repeated measures, with these covariates on progression rate and drug effect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922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AI use, disclosed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92240" y="4434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75120" y="4526280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Claude (Anthropic) through Claude Code, and Codex, drafted code, documentation and this deck; noted in the code headers and in AI_DISCLOSURE.md. Every analysis choice and every interpretation was reviewed by the team, which is accountable for all of it.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the pattern holds across 20 different train/test splits</a:t>
            </a:r>
            <a:endParaRPr lang="en-US" sz="2800" dirty="0"/>
          </a:p>
        </p:txBody>
      </p:sp>
      <p:pic>
        <p:nvPicPr>
          <p:cNvPr id="3" name="Image 0" descr="/Users/euibeoms/Desktop/ACoP/hackathon/slides/figs/fig_sensitivity_spl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Test-set R², continuous outcome, 20 seeds. Mexiletine: all methods tie (median about 0.6). Oligonucleotide: all weak (medians 0.06 to 0.12). Tideglusib: a tree model ranked first on 19 of 20 splits; a linear model never did. Absolute R² moves by up to 0.15 between test sets, which is why we report ranges.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which method picked which covariate</a:t>
            </a:r>
            <a:endParaRPr lang="en-US" sz="2800" dirty="0"/>
          </a:p>
        </p:txBody>
      </p:sp>
      <p:pic>
        <p:nvPicPr>
          <p:cNvPr id="3" name="Image 0" descr="/Users/euibeoms/Desktop/ACoP/hackathon/slides/figs/fig_covariate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325880"/>
            <a:ext cx="9966960" cy="4572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A"/>
                </a:solidFill>
              </a:rPr>
              <a:t>Filled dot = picked. Read down the first three columns of each panel. The two ML columns are fuller because their bar (above the random-number column) is low; the final call also requires LASSO stability of 60% (signal) or 20% (uncertain).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the key covariate holds within every onset type, and a which-drug-for-whom reading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83080"/>
                <a:gridCol w="1783080"/>
                <a:gridCol w="1783080"/>
                <a:gridCol w="1783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Arm, key covariate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Adult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Juvenile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Late onset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</a:rPr>
                        <a:t>Interaction p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Mexiletine, myotonia severity (slope per unit)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-0.51 (n 71)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-0.66 (n 28)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-0.25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0.03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Oligonucleotide, CTG repeats (slope per repeat)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0.005 (n 78)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0.006 (n 23)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0.014 (n 26)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0.50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Tideglusib, cognitive function (slope per z)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-3.1 (n 83)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-4.4 (n 24)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-1.3 (n 21)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</a:rPr>
                        <a:t>0.16</a:t>
                      </a:r>
                      <a:endParaRPr lang="en-US" sz="13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</a:rPr>
              <a:t>Same direction in every onset type in every arm (training patients). Only mexiletine's slope differs by onset type: flatter in late onset, where baseline myotonia is mild.</a:t>
            </a:r>
            <a:endParaRPr lang="en-US" sz="125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Which drug for whom (exploratory)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8056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Each arm's responder model applied to all training patients, relative to that arm's average patient. Best bet: mexiletine for 12% (very high myotonia, median repeats about 530), tideglusib for 35% (impaired cognition), the oligonucleotide for the rest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An extrapolation across arms; no outcome is used across arms. A proposal for discussion, not a scoreboard result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</a:rPr>
              <a:t>The data dictionary says arm assignment was weighted by patient fit; actual arm matches predicted best drug for 41% of patients against 33% by chance, so the weighting was mild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00000"/>
                </a:solidFill>
              </a:rPr>
              <a:t>Backup: references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1. Morales F et al. Somatic instability of the expanded CTG repeat in DM1 is a heritable quantitative trait and modifier of disease severity. Hum Mol Genet 2012;21:3558-67.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2. Cumming SA et al. Genetic determinants of disease severity in the DM1 OPTIMISTIC cohort. Neurology 2019;93:e995-e1009.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3. De Antonio M et al. Unravelling the DM1 clinical spectrum: a systematic registry-based study. Rev Neurol (Paris) 2016;172:572-80.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4. Okkersen K et al. Brain imaging in myotonic dystrophy type 1: a systematic review. Neurology 2017;89:960-9.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5. Logigian EL et al. Mexiletine is an effective antimyotonia treatment in DM1. Neurology 2010;74:1441-8.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6. Heatwole C et al. Mexiletine in myotonic dystrophy type 1: a randomized, double-blind, placebo-controlled trial. Neurology 2021;96:e228-e240.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7. Thornton CA et al. Antisense oligonucleotide targeting DMPK in patients with DM1: phase 1/2a trial. Lancet Neurol 2023;22:218-28.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8. Jones K et al. GSK3β mediates muscle pathology in myotonic dystrophy. J Clin Invest 2012;122:4461-72.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9. Horrigan J et al. A phase 2 study of AMO-02 (tideglusib) in congenital and childhood-onset DM1. Pediatr Neurol 2020;112:84-93.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1F2933"/>
                </a:solidFill>
              </a:rPr>
              <a:t>10. Hutmacher MM, Kowalski KG. Covariate selection in pharmacometric analyses: a review of methods. Br J Clin Pharmacol 2015;79:132-47.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am 1 DM1">
  <a:themeElements>
    <a:clrScheme name="Team 1 DM1">
      <a:dk1>
        <a:srgbClr val="1F2933"/>
      </a:dk1>
      <a:lt1>
        <a:srgbClr val="FFFFFF"/>
      </a:lt1>
      <a:dk2>
        <a:srgbClr val="1E3A5F"/>
      </a:dk2>
      <a:lt2>
        <a:srgbClr val="EEF2F6"/>
      </a:lt2>
      <a:accent1>
        <a:srgbClr val="2C7FB8"/>
      </a:accent1>
      <a:accent2>
        <a:srgbClr val="D95F0E"/>
      </a:accent2>
      <a:accent3>
        <a:srgbClr val="5B6B7A"/>
      </a:accent3>
      <a:accent4>
        <a:srgbClr val="2A7A2A"/>
      </a:accent4>
      <a:accent5>
        <a:srgbClr val="8DA9C4"/>
      </a:accent5>
      <a:accent6>
        <a:srgbClr val="BFD3E6"/>
      </a:accent6>
      <a:hlink>
        <a:srgbClr val="2C7FB8"/>
      </a:hlink>
      <a:folHlink>
        <a:srgbClr val="5B6B7A"/>
      </a:folHlink>
    </a:clrScheme>
    <a:fontScheme name="Team 1 DM1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CTG repeats: one predictor per drug</dc:title>
  <dc:subject>PptxGenJS Presentation</dc:subject>
  <dc:creator>Team 1</dc:creator>
  <cp:lastModifiedBy>Team 1</cp:lastModifiedBy>
  <cp:revision>1</cp:revision>
  <dcterms:created xsi:type="dcterms:W3CDTF">2026-10-13T05:41:31Z</dcterms:created>
  <dcterms:modified xsi:type="dcterms:W3CDTF">2026-10-13T05:41:31Z</dcterms:modified>
</cp:coreProperties>
</file>