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r>
              <a:t>This is the whole result. One row per arm.</a:t>
            </a:r>
          </a:p>
          <a:p/>
          <a:p>
            <a:r>
              <a:t>Mexiletine blocks muscle sodium channels; it treats the symptom. Its predictor is the symptom: baseline myotonia severity. Among held-out test patients, 48% above the cut-off responded versus 10% below.</a:t>
            </a:r>
          </a:p>
          <a:p/>
          <a:p>
            <a:r>
              <a:t>The antisense oligonucleotide degrades the toxic DMPK transcript; it acts on the cause. Its predictor is the amount of cause: CTG repeat length. 59% versus 31%.</a:t>
            </a:r>
          </a:p>
          <a:p/>
          <a:p>
            <a:r>
              <a:t>Tideglusib inhibits GSK3β and acts across several systems including the brain; the endpoint is a composite with a cognitive domain. Its predictor is baseline cognitive function. 74% versus 17%.</a:t>
            </a:r>
          </a:p>
          <a:p/>
          <a:p>
            <a:r>
              <a:t>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a:t>
            </a:r>
          </a:p>
          <a:p/>
          <a:p>
            <a:r>
              <a:t>Machine learning, meaning random forest and XGBoost, ranked the same covariates first. It did not add a predictor.</a:t>
            </a:r>
          </a:p>
          <a:p/>
          <a:p>
            <a:r>
              <a:t>Mexiletine scale, if asked (team discussion 13 Oct): absolute change in myotonia is multiplicative in baseline (Wenzhe's variance diagnostic, theta about 1), so most of the R² of 0.6 to 0.7 on absolute change is room to improve, not drug biology. On relative change the same severity/CTG axis still predicts, but modestly: cross-validated R² about 0.15, Spearman 0.43, responder AUC 0.75; relative improvement rises from 32% in the mildest quarter to 45% in the most severe, and the responder share from 9% to 50%. So we present mexiletine on the responder rule (relative), name severity and CTG as one axis (VIF 4 to 5), and say the absolute-change fit is largely arithmetic. Ming's two-part framing of the whole talk: additional predictors from ML? No. Better stratification? Yes, in one way: ML found the shape of the cognition effect, and a one-term rule captures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 s]</a:t>
            </a:r>
          </a:p>
          <a:p>
            <a:r>
              <a:t>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a:t>
            </a:r>
          </a:p>
          <a:p>
            <a:endParaRPr/>
          </a:p>
          <a:p>
            <a:r>
              <a:t>Mexiletine: from mild to severe myotonia, predicted response rises from 17% to 38%. A symptomatic drug: the effect scales with the symptom present. Late-onset patients respond less because their baseline myotonia is mild; there is little to treat.</a:t>
            </a:r>
          </a:p>
          <a:p>
            <a:endParaRPr/>
          </a:p>
          <a:p>
            <a:r>
              <a:t>The oligonucleotide: from short to long repeats, 22% to 75%. The only predictor in the arm. A target-engaging drug: the effect scales with the amount of target transcript. Note that individual prediction stays poor, test R-squared under 0.1: we know the direction, not the person.</a:t>
            </a:r>
          </a:p>
          <a:p>
            <a:endParaRPr/>
          </a:p>
          <a:p>
            <a:r>
              <a:t>Tideglusib: from impaired to intact cognition, 87% down to 14%, and it is a threshold near minus 0.5, not a gradient. The composite endpoint has a cognitive domain, so a patient with intact cognition has no room for measurable gain. A ceiling effect.</a:t>
            </a:r>
          </a:p>
          <a:p>
            <a:endParaRPr/>
          </a:p>
          <a:p>
            <a:r>
              <a:t>Onset phenotype adds little once the dominant covariate is in the model: the phenotype rows straddle the reference line.</a:t>
            </a:r>
          </a:p>
          <a:p>
            <a:endParaRPr/>
          </a:p>
          <a:p>
            <a:r>
              <a:t>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a:t>
            </a:r>
          </a:p>
          <a:p>
            <a:endParaRPr/>
          </a:p>
          <a:p>
            <a:r>
              <a:t>If asked what was noise: sex, BMI, smoking, cataracts, CK, PR interval and albumin in every arm; disease duration borderline everywhere.</a:t>
            </a:r>
          </a:p>
          <a:p>
            <a:endParaRPr/>
          </a:p>
          <a:p>
            <a:r>
              <a:t>Secondary candidate, if asked: disease duration. Borderline in our pipeline (3 to 4 of 5 votes, 24 to 48% stability), signal in Wenzhe's pipeline for mexiletine and tideglusib. Direction: longer disease duration, less response, in both arms. Clinically: a proxy for accumulated irreversible damage. We present it as a candidate for confirmation, not a finding.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a:t>
            </a:r>
          </a:p>
          <a:p>
            <a:r>
              <a:t>The scoreboard. Blue bars are covariate models, orange bars are machine learning, test-set R-squared for the continuous endpoint, about 41 held-out patients per arm.</a:t>
            </a:r>
          </a:p>
          <a:p>
            <a:endParaRPr/>
          </a:p>
          <a:p>
            <a:r>
              <a:t>Mexiletine: every method lands between 0.47 and 0.54. Equivalent. Across 20 repeated splits the top rank alternates between stepwise selection and tuned XGBoost.</a:t>
            </a:r>
          </a:p>
          <a:p>
            <a:endParaRPr/>
          </a:p>
          <a:p>
            <a:r>
              <a:t>Oligonucleotide: every method is under 0.1, on every split. The repeat-length effect is consistent but between-patient variability dominates. We report that as it is.</a:t>
            </a:r>
          </a:p>
          <a:p>
            <a:endParaRPr/>
          </a:p>
          <a:p>
            <a:r>
              <a:t>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a:t>
            </a:r>
          </a:p>
          <a:p>
            <a:endParaRPr/>
          </a:p>
          <a:p>
            <a:r>
              <a:t>Intervals overlap within each arm, so we do not rank methods inside an arm. Machine learning was the check that nothing was missed: by permutation importance and SHAP it found the same leaders.</a:t>
            </a:r>
          </a:p>
          <a:p>
            <a:endParaRPr/>
          </a:p>
          <a:p>
            <a:r>
              <a:t>The three lines under the figure quote medians over 20 repeated splits rather than our single locked split, because single-split R² moves by up to 0.15 between draws. Our locked split: mexiletine 0.47 to 0.54, oligonucleotide under 0.1, tideglusib 0.55 vs 0.24 to 0.30. Wenzhe's independent 80/20 split: mexiletine 0.75, oligonucleotide 0.27, tideglusib tree ensembles ahead; same pattern.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a:t>
            </a:r>
          </a:p>
          <a:p>
            <a:r>
              <a:t>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a:t>
            </a:r>
          </a:p>
          <a:p/>
          <a:p>
            <a:r>
              <a:t>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a:t>
            </a:r>
          </a:p>
          <a:p/>
          <a:p>
            <a:r>
              <a:t>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a:t>
            </a:r>
          </a:p>
          <a:p/>
          <a:p>
            <a:r>
              <a:t>AI disclosure: Claude through Claude Code, and Codex, drafted code, documentation and these slides, as noted in the code headers. Every analysis decision and interpretation was reviewed by the team, and the team is accountable for the results.</a:t>
            </a:r>
          </a:p>
          <a:p/>
          <a:p>
            <a:r>
              <a:t>Robustness, if time: we repeated the split 20 times and the pattern held in every arm. Thank you.</a:t>
            </a:r>
          </a:p>
          <a:p/>
          <a:p>
            <a:r>
              <a:t>Closing, in Ming's two-part form: Additional predictors from ML? No: traditional and ML methods pick the same covariates in every arm; across repeated splits cognition is selected about 100% of the time, CTG repeats about 90%, myotonia about 85 to 100%. Better stratification? Yes, in one specific way: in the tideglusib arm the random forest showed the cognition effect is a step, not a line; a one-term rule, cognition below about -0.5, captures it on held-out patients. In the other two arms ML did not beat the simple models, and we say so. ML's contribution was the functional form, not new features.</a:t>
            </a:r>
          </a:p>
          <a:p/>
          <a:p>
            <a:r>
              <a:t>How we meet the three criteria, if asked: Technical: six-step workflow, locked test set scored once, every method on the same test patients, tuned and untuned side by side, stated cut-off rule, bootstrap intervals and 20-split spread, so small gaps are ties. Clinical: a covariate counts only if it survives resampling and beats a noise control (Ming's pipeline adds a shuffled-outcome null and a pre-registered hypothesis sheet); the rule rejected candidates too (mexiletine severity on relative change is modest, oligonucleotide insulin resistance dropped). Communication: one storyline, one table answer, mechanism per drug.</a:t>
            </a:r>
          </a:p>
          <a:p/>
          <a:p>
            <a:r>
              <a:t>Extra rigour available in backup: pre-registration before scoring, shuffled-outcome null, 20-seed sensitivity, four independent pipelines.</a:t>
            </a:r>
          </a:p>
          <a:p/>
          <a:p>
            <a:r>
              <a:t>Metrics column sources: AUC and R² from analysis/dm1_outputs/scoreboard_all_arms.csv (consensus linear / linear with cut-off / random forest rows); the mexiletine relative-change R² of about 0.15 is 5-fold cross-validation on training patients (team check, 13 Oct). On relative change CTG repeats edges ahead of myotonia severity (CV R² 0.15 vs 0.14); they are one axis, r = 0.88.</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Mexiletine: methods equivalent, median about 0.6. Oligonucleotide: all weak, medians 0.06 to 0.12. Absolute R² varies by up to 0.15 between splits, hence ranges rather than point estimates.</a:t>
            </a:r>
          </a:p>
          <a:p/>
          <a:p>
            <a:r>
              <a:t>Ming's cross-seed selection frequencies agree: cognition 100%, CTG repeats 90%, myotonia 85%. Hence the line: the split moves the scores, not the covariates.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 (one axis with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Additional predictors from machine learning? No: </a:t>
            </a:r>
            <a:r>
              <a:rPr b="0" sz="1700">
                <a:solidFill>
                  <a:srgbClr val="1F2933"/>
                </a:solidFill>
              </a:rPr>
              <a:t>the same covariates in every arm, selected by all five methods; a pure-noise control was never selected.  </a:t>
            </a:r>
            <a:r>
              <a:rPr b="1" sz="1700">
                <a:solidFill>
                  <a:srgbClr val="1F2933"/>
                </a:solidFill>
              </a:rPr>
              <a:t>Better stratification? Yes, in one way: </a:t>
            </a:r>
            <a:r>
              <a:rPr b="0" sz="1700">
                <a:solidFill>
                  <a:srgbClr val="1F2933"/>
                </a:solidFill>
              </a:rPr>
              <a:t>ML found the shape of the cognition effect, and a one-term rule captures 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
        <p:nvSpPr>
          <p:cNvPr id="24" name="TextBox 23"/>
          <p:cNvSpPr txBox="1"/>
          <p:nvPr/>
        </p:nvSpPr>
        <p:spPr>
          <a:xfrm>
            <a:off x="548640" y="6263640"/>
            <a:ext cx="6057236" cy="307777"/>
          </a:xfrm>
          <a:prstGeom prst="rect">
            <a:avLst/>
          </a:prstGeom>
          <a:noFill/>
        </p:spPr>
        <p:txBody>
          <a:bodyPr wrap="none" lIns="0" tIns="0" rIns="0" bIns="0">
            <a:spAutoFit/>
          </a:bodyPr>
          <a:lstStyle/>
          <a:p>
            <a:r>
              <a:rPr sz="2000" dirty="0" err="1">
                <a:solidFill>
                  <a:srgbClr val="5B6B7A"/>
                </a:solidFill>
                <a:latin typeface="Calibri"/>
              </a:rPr>
              <a:t>github.com</a:t>
            </a:r>
            <a:r>
              <a:rPr sz="2000" dirty="0">
                <a:solidFill>
                  <a:srgbClr val="5B6B7A"/>
                </a:solidFill>
                <a:latin typeface="Calibri"/>
              </a:rPr>
              <a:t>/euibeom135-cell/acop2026-hackathon-team1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on the ≥45% responder rule. Absolute change mostly reflects baseline (room to improve); on relative change the same axis still predicts, modestly (R² ≈ 0.15, AUC 0.75).</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median R² ≈ 0.6 on absolute change, mostly baseline arithmetic; ≈ 0.15 on relative change, every method</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median R² 0.06 to 0.12 across 20 splits,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0.54 vs linear 0.30 to 0.35 (20-split medians); one threshold brings linear to ≈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sp>
        <p:nvSpPr>
          <p:cNvPr id="4" name="Text 1"/>
          <p:cNvSpPr txBox="1"/>
          <p:nvPr/>
        </p:nvSpPr>
        <p:spPr>
          <a:xfrm>
            <a:off x="548640" y="46634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50749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6634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50749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5166360"/>
            <a:ext cx="4663440" cy="1280160"/>
          </a:xfrm>
          <a:prstGeom prst="rect">
            <a:avLst/>
          </a:prstGeom>
          <a:noFill/>
          <a:ln/>
        </p:spPr>
        <p:txBody>
          <a:bodyPr wrap="square" lIns="0" tIns="0" rIns="0" bIns="0" rtlCol="0" anchor="ctr"/>
          <a:lstStyle/>
          <a:p>
            <a:pPr marL="0" indent="0">
              <a:buNone/>
            </a:pPr>
            <a:r>
              <a:rPr lang="en-US" sz="1400" dirty="0">
                <a:solidFill>
                  <a:srgbClr val="1F2933"/>
                </a:solidFill>
                <a:latin typeface="Calibri"/>
              </a:rPr>
              <a:t>Claude (via Claude Code) and Codex drafted code, documentation and slides. All decisions and interpretations were reviewed by the team, which is accountable for the results.</a:t>
            </a:r>
            <a:r>
              <a:rPr sz="1400">
                <a:latin typeface="Calibri"/>
              </a:rPr>
              <a:t> Full record: github.com/euibeom135-cell/acop2026-hackathon-team1</a:t>
            </a:r>
            <a:endParaRPr lang="en-US" sz="1400" dirty="0"/>
          </a:p>
        </p:txBody>
      </p:sp>
      <p:sp>
        <p:nvSpPr>
          <p:cNvPr id="9" name="TextBox 8"/>
          <p:cNvSpPr txBox="1"/>
          <p:nvPr/>
        </p:nvSpPr>
        <p:spPr>
          <a:xfrm>
            <a:off x="548640" y="4069080"/>
            <a:ext cx="11064240" cy="502920"/>
          </a:xfrm>
          <a:prstGeom prst="rect">
            <a:avLst/>
          </a:prstGeom>
          <a:noFill/>
        </p:spPr>
        <p:txBody>
          <a:bodyPr wrap="square" lIns="0" rIns="0" tIns="0" bIns="0">
            <a:spAutoFit/>
          </a:bodyPr>
          <a:lstStyle/>
          <a:p>
            <a:r>
              <a:rPr sz="1500" b="1">
                <a:solidFill>
                  <a:srgbClr val="000000"/>
                </a:solidFill>
                <a:latin typeface="Calibri"/>
              </a:rPr>
              <a:t>Machine learning's contribution was the functional form, not new features: a reproducible cognition threshold that a one-term rule captures. The split moves the scores, not the covariates.</a:t>
            </a:r>
          </a:p>
        </p:txBody>
      </p:sp>
      <p:graphicFrame>
        <p:nvGraphicFramePr>
          <p:cNvPr id="10" name="Table 9"/>
          <p:cNvGraphicFramePr>
            <a:graphicFrameLocks noGrp="1"/>
          </p:cNvGraphicFramePr>
          <p:nvPr/>
        </p:nvGraphicFramePr>
        <p:xfrm>
          <a:off x="548640" y="1417320"/>
          <a:ext cx="11064240" cy="2368296"/>
        </p:xfrm>
        <a:graphic>
          <a:graphicData uri="http://schemas.openxmlformats.org/drawingml/2006/table">
            <a:tbl>
              <a:tblPr firstRow="0" bandRow="0">
                <a:tableStyleId>{5C22544A-7EE6-4342-B048-85BDC9FD1C3A}</a:tableStyleId>
              </a:tblPr>
              <a:tblGrid>
                <a:gridCol w="1737360"/>
                <a:gridCol w="2377440"/>
                <a:gridCol w="1097280"/>
                <a:gridCol w="2103120"/>
                <a:gridCol w="2011680"/>
                <a:gridCol w="1737360"/>
              </a:tblGrid>
              <a:tr h="502920">
                <a:tc>
                  <a:txBody>
                    <a:bodyPr/>
                    <a:lstStyle/>
                    <a:p>
                      <a:r>
                        <a:rPr sz="1250" b="1">
                          <a:solidFill>
                            <a:srgbClr val="000000"/>
                          </a:solidFill>
                          <a:latin typeface="Calibri"/>
                        </a:rPr>
                        <a:t>Treatment</a:t>
                      </a:r>
                    </a:p>
                  </a:txBody>
                  <a:tcPr marL="64008" marR="64008" marT="45720" marB="45720">
                    <a:solidFill>
                      <a:srgbClr val="F2F2F2"/>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1">
                          <a:solidFill>
                            <a:srgbClr val="000000"/>
                          </a:solidFill>
                          <a:latin typeface="Calibri"/>
                        </a:rPr>
                        <a:t>Measure at baseline</a:t>
                      </a:r>
                    </a:p>
                  </a:txBody>
                  <a:tcPr marL="64008" marR="64008" marT="45720" marB="45720">
                    <a:solidFill>
                      <a:srgbClr val="F2F2F2"/>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1">
                          <a:solidFill>
                            <a:srgbClr val="000000"/>
                          </a:solidFill>
                          <a:latin typeface="Calibri"/>
                        </a:rPr>
                        <a:t>Cut-off</a:t>
                      </a:r>
                    </a:p>
                  </a:txBody>
                  <a:tcPr marL="64008" marR="64008" marT="45720" marB="45720">
                    <a:solidFill>
                      <a:srgbClr val="F2F2F2"/>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1">
                          <a:solidFill>
                            <a:srgbClr val="000000"/>
                          </a:solidFill>
                          <a:latin typeface="Calibri"/>
                        </a:rPr>
                        <a:t>Test patients who responded: above vs below</a:t>
                      </a:r>
                    </a:p>
                  </a:txBody>
                  <a:tcPr marL="64008" marR="64008" marT="45720" marB="45720">
                    <a:solidFill>
                      <a:srgbClr val="F2F2F2"/>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1">
                          <a:solidFill>
                            <a:srgbClr val="000000"/>
                          </a:solidFill>
                          <a:latin typeface="Calibri"/>
                        </a:rPr>
                        <a:t>Held-out metrics</a:t>
                      </a:r>
                    </a:p>
                  </a:txBody>
                  <a:tcPr marL="64008" marR="64008" marT="45720" marB="45720">
                    <a:solidFill>
                      <a:srgbClr val="F2F2F2"/>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1">
                          <a:solidFill>
                            <a:srgbClr val="000000"/>
                          </a:solidFill>
                          <a:latin typeface="Calibri"/>
                        </a:rPr>
                        <a:t>Trial design</a:t>
                      </a:r>
                    </a:p>
                  </a:txBody>
                  <a:tcPr marL="64008" marR="64008" marT="45720" marB="45720">
                    <a:solidFill>
                      <a:srgbClr val="F2F2F2"/>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r>
              <a:tr h="621792">
                <a:tc>
                  <a:txBody>
                    <a:bodyPr/>
                    <a:lstStyle/>
                    <a:p>
                      <a:r>
                        <a:rPr sz="1250" b="1">
                          <a:solidFill>
                            <a:srgbClr val="1F2933"/>
                          </a:solidFill>
                          <a:latin typeface="Calibri"/>
                        </a:rPr>
                        <a:t>Mexiletine</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Myotonia severity (one axis with CTG repeats; CTG leads on relative change)</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 about 5</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10 of 21 (48%) vs 2 of 20 (10%)</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AUC 0.77; R² 0.5 on absolute change, ≈0.15 on relative</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Enrol on symptom severity, not diagnosis alone</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r>
              <a:tr h="621792">
                <a:tc>
                  <a:txBody>
                    <a:bodyPr/>
                    <a:lstStyle/>
                    <a:p>
                      <a:r>
                        <a:rPr sz="1250" b="1">
                          <a:solidFill>
                            <a:srgbClr val="1F2933"/>
                          </a:solidFill>
                          <a:latin typeface="Calibri"/>
                        </a:rPr>
                        <a:t>Antisense oligonucleotide</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CTG repeat length</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 about 350</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10 of 17 (59%) vs 8 of 26 (31%)</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AUC 0.72; R² &lt; 0.1</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Stratify randomisation on repeat length</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r>
              <a:tr h="621792">
                <a:tc>
                  <a:txBody>
                    <a:bodyPr/>
                    <a:lstStyle/>
                    <a:p>
                      <a:r>
                        <a:rPr sz="1250" b="1">
                          <a:solidFill>
                            <a:srgbClr val="1F2933"/>
                          </a:solidFill>
                          <a:latin typeface="Calibri"/>
                        </a:rPr>
                        <a:t>Tideglusib</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Cognitive function</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&lt; about -0.5</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17 of 23 (74%) vs 3 of 18 (17%)</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AUC 0.78 (linear with cut-off), 0.87 (forest); R² 0.45 / 0.56</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c>
                  <a:txBody>
                    <a:bodyPr/>
                    <a:lstStyle/>
                    <a:p>
                      <a:r>
                        <a:rPr sz="1250" b="0">
                          <a:solidFill>
                            <a:srgbClr val="1F2933"/>
                          </a:solidFill>
                          <a:latin typeface="Calibri"/>
                        </a:rPr>
                        <a:t>Enrich for cognitive impairment: 48% → 74% responders</a:t>
                      </a:r>
                    </a:p>
                  </a:txBody>
                  <a:tcPr marL="64008" marR="64008" marT="45720" marB="45720">
                    <a:solidFill>
                      <a:srgbClr val="FFFFFF"/>
                    </a:solidFill>
                    <a:lnL w="9525" cap="flat" cmpd="sng" algn="ctr">
                      <a:solidFill>
                        <a:srgbClr val="D5DAE0"/>
                      </a:solidFill>
                      <a:prstDash val="solid"/>
                    </a:lnL>
                    <a:lnR w="9525" cap="flat" cmpd="sng" algn="ctr">
                      <a:solidFill>
                        <a:srgbClr val="D5DAE0"/>
                      </a:solidFill>
                      <a:prstDash val="solid"/>
                    </a:lnR>
                    <a:lnT w="9525" cap="flat" cmpd="sng" algn="ctr">
                      <a:solidFill>
                        <a:srgbClr val="D5DAE0"/>
                      </a:solidFill>
                      <a:prstDash val="solid"/>
                    </a:lnT>
                    <a:lnB w="9525" cap="flat" cmpd="sng" algn="ctr">
                      <a:solidFill>
                        <a:srgbClr val="D5DAE0"/>
                      </a:solidFill>
                      <a:prstDash val="soli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split moves the scores, not the covariates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latin typeface="Calibri"/>
              </a:rPr>
              <a:t>Filled dot = selected. Final call requires 4 of 5 methods and LASSO bootstrap stability ≥ 60% (signal); 2 votes and ≥ 20% (uncertain).</a:t>
            </a:r>
            <a:r>
              <a:rPr sz="1300">
                <a:solidFill>
                  <a:srgbClr val="5B6B7A"/>
                </a:solidFill>
                <a:latin typeface="Calibri"/>
              </a:rPr>
              <a:t> Secondary candidate seen in two of three pipelines: disease duration (longer duration, less response), borderline 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2861</Words>
  <Application>Microsoft Macintosh PowerPoint</Application>
  <PresentationFormat>Widescreen</PresentationFormat>
  <Paragraphs>169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5</cp:revision>
  <dcterms:created xsi:type="dcterms:W3CDTF">2026-10-13T06:04:49Z</dcterms:created>
  <dcterms:modified xsi:type="dcterms:W3CDTF">2026-10-13T13:33:44Z</dcterms:modified>
</cp:coreProperties>
</file>