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95AE816-A7EC-367D-294D-A6DDDADDFEA6}">
          <p14:sldIdLst>
            <p14:sldId id="256"/>
            <p14:sldId id="257"/>
            <p14:sldId id="258"/>
            <p14:sldId id="259"/>
            <p14:sldId id="260"/>
            <p14:sldId id="261"/>
          </p14:sldIdLst>
        </p14:section>
        <p14:section name="Backup" id="{C50A6589-A1DA-9EE4-7CF9-BE7ED99F92C9}">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96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48%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 s]</a:t>
            </a:r>
          </a:p>
          <a:p>
            <a:r>
              <a:t>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a:t>
            </a:r>
          </a:p>
          <a:p/>
          <a:p>
            <a:r>
              <a:t>Mexiletine: from mild to severe myotonia, predicted response rises from 17% to 38%. A symptomatic drug: the effect scales with the symptom present. Late-onset patients respond less because their baseline myotonia is mild; there is little to treat.</a:t>
            </a:r>
          </a:p>
          <a:p/>
          <a:p>
            <a:r>
              <a:t>The oligonucleotide: from short to long repeats, 22% to 75%. The only predictor in the arm. A target-engaging drug: the effect scales with the amount of target transcript. Note that individual prediction stays poor, test R-squared under 0.1: we know the direction, not the person.</a:t>
            </a:r>
          </a:p>
          <a:p/>
          <a:p>
            <a:r>
              <a:t>Tideglusib: from impaired to intact cognition, 87% down to 14%, and it is a threshold near minus 0.5, not a gradient. The composite endpoint has a cognitive domain, so a patient with intact cognition has no room for measurable gain. A ceiling effect.</a:t>
            </a:r>
          </a:p>
          <a:p/>
          <a:p>
            <a:r>
              <a:t>Onset phenotype adds little once the dominant covariate is in the model: the phenotype rows straddle the reference line.</a:t>
            </a:r>
          </a:p>
          <a:p/>
          <a:p>
            <a:r>
              <a:t>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a:t>
            </a:r>
          </a:p>
          <a:p/>
          <a:p>
            <a:r>
              <a:t>If asked what was noise: sex, BMI, smoking, cataracts, CK, PR interval and albumin in every arm; disease duration borderline everywhere.</a:t>
            </a:r>
          </a:p>
          <a:p/>
          <a:p>
            <a:r>
              <a:t>Secondary candidate, if asked: disease duration. Borderline in our pipeline (3 to 4 of 5 votes, 24 to 48% stability), signal in Wenzhe's pipeline for mexiletine and tideglusib. Direction: longer disease duration, less response, in both arms. Clinically: a proxy for accumulated irreversible damage. We present it as a candidate for confirmation, not a finding.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a:t>
            </a:r>
          </a:p>
          <a:p>
            <a:r>
              <a:t>The scoreboard. Blue bars are covariate models, orange bars are machine learning, test-set R-squared for the continuous endpoint, about 41 held-out patients per arm.</a:t>
            </a:r>
          </a:p>
          <a:p/>
          <a:p>
            <a:r>
              <a:t>Mexiletine: every method lands between 0.47 and 0.54. Equivalent. Across 20 repeated splits the top rank alternates between stepwise selection and tuned XGBoost.</a:t>
            </a:r>
          </a:p>
          <a:p/>
          <a:p>
            <a:r>
              <a:t>Oligonucleotide: every method is under 0.1, on every split. The repeat-length effect is consistent but between-patient variability dominates. We report that as it is.</a:t>
            </a:r>
          </a:p>
          <a:p/>
          <a:p>
            <a:r>
              <a:t>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a:t>
            </a:r>
          </a:p>
          <a:p/>
          <a:p>
            <a:r>
              <a:t>Intervals overlap within each arm, so we do not rank methods inside an arm. Machine learning was the check that nothing was missed: by permutation importance and SHAP it found the same leaders.</a:t>
            </a:r>
          </a:p>
          <a:p/>
          <a:p>
            <a:r>
              <a:t>The three lines under the figure quote medians over 20 repeated splits rather than our single locked split, because single-split R² moves by up to 0.15 between draws. Our locked split: mexiletine 0.47 to 0.54, oligonucleotide under 0.1, tideglusib 0.55 vs 0.24 to 0.30. Wenzhe's independent 80/20 split: mexiletine 0.75, oligonucleotide 0.27, tideglusib tree ensembles ahead; same pattern.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five-fold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rtlCol="0"/>
          <a:lstStyle>
            <a:lvl1pPr marL="0" indent="0" algn="l">
              <a:buNone/>
              <a:defRPr lang="en-US" sz="4000" b="1" dirty="0">
                <a:solidFill>
                  <a:srgbClr val="000000"/>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rtlCol="0"/>
          <a:lstStyle>
            <a:lvl1pPr marL="0" indent="0" algn="l">
              <a:buNone/>
              <a:defRPr lang="en-US" sz="1800" dirty="0">
                <a:solidFill>
                  <a:srgbClr val="40404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rtlCol="0"/>
          <a:lstStyle>
            <a:lvl1pPr marL="0" indent="0" algn="l">
              <a:buNone/>
              <a:defRPr lang="en-US" sz="2800" b="1" dirty="0">
                <a:solidFill>
                  <a:srgbClr val="000000"/>
                </a:solidFill>
              </a:defRPr>
            </a:lvl1pPr>
          </a:lstStyle>
          <a:p>
            <a:pPr marL="0" indent="0" algn="l">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10698480" cy="1463040"/>
          </a:xfrm>
          <a:prstGeom prst="rect">
            <a:avLst/>
          </a:prstGeom>
          <a:noFill/>
          <a:ln/>
        </p:spPr>
        <p:txBody>
          <a:bodyPr wrap="square" lIns="0" tIns="0" rIns="0" bIns="0" rtlCol="0"/>
          <a:lstStyle/>
          <a:p>
            <a:pPr marL="0" indent="0" algn="l">
              <a:buNone/>
            </a:pPr>
            <a:r>
              <a:rPr lang="en-US" sz="4000" b="1" dirty="0">
                <a:solidFill>
                  <a:srgbClr val="000000"/>
                </a:solidFill>
              </a:rPr>
              <a:t>Beyond CTG repeats: one predictor per drug</a:t>
            </a:r>
            <a:endParaRPr lang="en-US" sz="4000" dirty="0"/>
          </a:p>
        </p:txBody>
      </p:sp>
      <p:sp>
        <p:nvSpPr>
          <p:cNvPr id="3" name="Text 0"/>
          <p:cNvSpPr>
            <a:spLocks noGrp="1"/>
          </p:cNvSpPr>
          <p:nvPr>
            <p:ph type="body" idx="101" hasCustomPrompt="1"/>
          </p:nvPr>
        </p:nvSpPr>
        <p:spPr>
          <a:xfrm>
            <a:off x="731520" y="3611880"/>
            <a:ext cx="10698480" cy="2194560"/>
          </a:xfrm>
          <a:prstGeom prst="rect">
            <a:avLst/>
          </a:prstGeom>
          <a:noFill/>
          <a:ln/>
        </p:spPr>
        <p:txBody>
          <a:bodyPr wrap="square" lIns="0" tIns="0" rIns="0" bIns="0" rtlCol="0"/>
          <a:lstStyle/>
          <a:p>
            <a:pPr marL="0" indent="0" algn="l">
              <a:buNone/>
            </a:pPr>
            <a:r>
              <a:rPr lang="en-US" sz="2000" dirty="0">
                <a:solidFill>
                  <a:srgbClr val="404040"/>
                </a:solidFill>
              </a:rPr>
              <a:t>Covariate modelling versus machine learning for treatment-response stratification in myotonic dystrophy type 1</a:t>
            </a:r>
            <a:endParaRPr lang="en-US" sz="2000" dirty="0"/>
          </a:p>
          <a:p>
            <a:pPr marL="0" indent="0" algn="l">
              <a:buNone/>
            </a:pPr>
            <a:r>
              <a:rPr lang="en-US" sz="900" dirty="0">
                <a:solidFill>
                  <a:srgbClr val="404040"/>
                </a:solidFill>
              </a:rPr>
              <a:t> </a:t>
            </a:r>
            <a:endParaRPr lang="en-US" sz="2000" dirty="0"/>
          </a:p>
          <a:p>
            <a:pPr marL="0" indent="0" algn="l">
              <a:buNone/>
            </a:pPr>
            <a:r>
              <a:rPr lang="en-US" sz="1600" b="1" dirty="0">
                <a:solidFill>
                  <a:srgbClr val="404040"/>
                </a:solidFill>
              </a:rPr>
              <a:t>Team 1 </a:t>
            </a:r>
            <a:r>
              <a:rPr lang="en-US" sz="1600" dirty="0">
                <a:solidFill>
                  <a:srgbClr val="404040"/>
                </a:solidFill>
              </a:rPr>
              <a:t>: Euibeom Shin, Wenzhe Ma, Leo Vuong, Bei Zhao, Ming Gao, Izumi Hamada</a:t>
            </a:r>
            <a:endParaRPr lang="en-US" sz="2000" dirty="0"/>
          </a:p>
          <a:p>
            <a:pPr marL="0" indent="0" algn="l">
              <a:buNone/>
            </a:pPr>
            <a:r>
              <a:rPr lang="en-US" sz="1600" dirty="0">
                <a:solidFill>
                  <a:srgbClr val="404040"/>
                </a:solidFill>
              </a:rPr>
              <a:t>ACoP </a:t>
            </a:r>
            <a:r>
              <a:rPr lang="en-US" sz="1600">
                <a:solidFill>
                  <a:srgbClr val="404040"/>
                </a:solidFill>
              </a:rPr>
              <a:t>2026 Hackathon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88544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3840480">
                  <a:extLst>
                    <a:ext uri="{9D8B030D-6E8A-4147-A177-3AD203B41FA5}">
                      <a16:colId xmlns:a16="http://schemas.microsoft.com/office/drawing/2014/main" val="20003"/>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cut-off  vs  below</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b="1"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txBody>
          <a:bodyPr/>
          <a:lstStyle/>
          <a:p>
            <a:endParaRPr lang="en-US"/>
          </a:p>
        </p:txBody>
      </p:sp>
      <p:sp>
        <p:nvSpPr>
          <p:cNvPr id="5" name="Text 2"/>
          <p:cNvSpPr txBox="1"/>
          <p:nvPr/>
        </p:nvSpPr>
        <p:spPr>
          <a:xfrm>
            <a:off x="777240" y="4754880"/>
            <a:ext cx="10607040" cy="1188720"/>
          </a:xfrm>
          <a:prstGeom prst="rect">
            <a:avLst/>
          </a:prstGeom>
          <a:noFill/>
          <a:ln/>
        </p:spPr>
        <p:txBody>
          <a:bodyPr wrap="square" lIns="0" tIns="0" rIns="0" bIns="0" rtlCol="0" anchor="ctr"/>
          <a:lstStyle/>
          <a:p>
            <a:pPr marL="0" indent="0">
              <a:buNone/>
            </a:pPr>
            <a:r>
              <a:rPr lang="en-US" sz="1700" b="1" dirty="0">
                <a:solidFill>
                  <a:srgbClr val="1F2933"/>
                </a:solidFill>
              </a:rPr>
              <a:t>Selected by all five methods in every arm.  Machine learning added no predictor.  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9" name="Text 7"/>
          <p:cNvSpPr txBox="1"/>
          <p:nvPr/>
        </p:nvSpPr>
        <p:spPr>
          <a:xfrm>
            <a:off x="272034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rPr>
              <a:t> </a:t>
            </a:r>
            <a:r>
              <a:rPr lang="en-US" sz="1400" b="1" dirty="0">
                <a:solidFill>
                  <a:srgbClr val="D95F0E"/>
                </a:solidFill>
                <a:highlight>
                  <a:srgbClr val="FFFF00"/>
                </a:highlight>
              </a:rPr>
              <a:t>oligonucleotide</a:t>
            </a:r>
            <a:endParaRPr lang="en-US" sz="1400" dirty="0">
              <a:highlight>
                <a:srgbClr val="FFFF00"/>
              </a:highlight>
            </a:endParaRPr>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3" name="Text 11"/>
          <p:cNvSpPr txBox="1"/>
          <p:nvPr/>
        </p:nvSpPr>
        <p:spPr>
          <a:xfrm>
            <a:off x="498348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Tideglusib</a:t>
            </a:r>
            <a:endParaRPr lang="en-US" sz="1400" b="1" dirty="0">
              <a:highlight>
                <a:srgbClr val="FFFF00"/>
              </a:highlight>
            </a:endParaRPr>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txBody>
          <a:bodyPr/>
          <a:lstStyle/>
          <a:p>
            <a:endParaRPr lang="en-US"/>
          </a:p>
        </p:txBody>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txBody>
          <a:bodyPr/>
          <a:lstStyle/>
          <a:p>
            <a:endParaRPr lang="en-US"/>
          </a:p>
        </p:txBody>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marL="0" indent="0" algn="ctr">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marL="0" indent="0" algn="ctr">
              <a:buNone/>
            </a:pPr>
            <a:r>
              <a:rPr lang="en-US" sz="1400" b="1" dirty="0">
                <a:solidFill>
                  <a:srgbClr val="D95F0E"/>
                </a:solidFill>
                <a:highlight>
                  <a:srgbClr val="FFFF00"/>
                </a:highlight>
              </a:rPr>
              <a:t>Mexiletine</a:t>
            </a:r>
            <a:endParaRPr lang="en-US" sz="1400" dirty="0">
              <a:highlight>
                <a:srgbClr val="FFFF00"/>
              </a:highlight>
            </a:endParaRPr>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marL="0" indent="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
        <p:nvSpPr>
          <p:cNvPr id="24" name="TextBox 23"/>
          <p:cNvSpPr txBox="1"/>
          <p:nvPr/>
        </p:nvSpPr>
        <p:spPr>
          <a:xfrm>
            <a:off x="548640" y="6263640"/>
            <a:ext cx="11064240" cy="320040"/>
          </a:xfrm>
          <a:prstGeom prst="rect">
            <a:avLst/>
          </a:prstGeom>
          <a:noFill/>
        </p:spPr>
        <p:txBody>
          <a:bodyPr wrap="none" lIns="0" rIns="0" tIns="0" bIns="0">
            <a:spAutoFit/>
          </a:bodyPr>
          <a:lstStyle/>
          <a:p>
            <a:r>
              <a:rPr sz="1200">
                <a:solidFill>
                  <a:srgbClr val="5B6B7A"/>
                </a:solidFill>
                <a:latin typeface="Calibri"/>
              </a:rPr>
              <a:t>Code, decision log, AI disclosure and all three team pipelines: github.com/euibeom135-cell/acop2026-hackathon-team1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icPr>
            <a:picLocks noChangeAspect="1"/>
          </p:cNvPicPr>
          <p:nvPr/>
        </p:nvPicPr>
        <p:blipFill>
          <a:blip r:embed="rId3"/>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marL="0" indent="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marL="0" indent="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marL="0" indent="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marL="0" indent="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txBody>
          <a:bodyPr/>
          <a:lstStyle/>
          <a:p>
            <a:endParaRPr lang="en-US"/>
          </a:p>
        </p:txBody>
      </p:sp>
      <p:sp>
        <p:nvSpPr>
          <p:cNvPr id="11" name="Text 8"/>
          <p:cNvSpPr txBox="1"/>
          <p:nvPr/>
        </p:nvSpPr>
        <p:spPr>
          <a:xfrm>
            <a:off x="6629400" y="5166360"/>
            <a:ext cx="4754880" cy="960120"/>
          </a:xfrm>
          <a:prstGeom prst="rect">
            <a:avLst/>
          </a:prstGeom>
          <a:noFill/>
          <a:ln/>
        </p:spPr>
        <p:txBody>
          <a:bodyPr wrap="square" lIns="0" tIns="0" rIns="0" bIns="0" rtlCol="0" anchor="ctr"/>
          <a:lstStyle/>
          <a:p>
            <a:pPr marL="0" indent="0">
              <a:buNone/>
            </a:pPr>
            <a:r>
              <a:rPr lang="en-US" sz="1500" b="1" dirty="0">
                <a:solidFill>
                  <a:srgbClr val="1F2933"/>
                </a:solidFill>
              </a:rPr>
              <a:t>Independently replicated: </a:t>
            </a: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icPr>
            <a:picLocks noChangeAspect="1"/>
          </p:cNvPicPr>
          <p:nvPr/>
        </p:nvPicPr>
        <p:blipFill>
          <a:blip r:embed="rId3"/>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Equivalent: median R² ≈ 0.6 across 20 splits; all methods within 0.05</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marL="0" indent="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Low predictability: median R² 0.06 to 0.12 across 20 splits,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marL="0" indent="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marL="0" indent="0">
              <a:buNone/>
            </a:pPr>
            <a:r>
              <a:rPr lang="en-US" sz="1400" dirty="0">
                <a:solidFill>
                  <a:srgbClr val="1F2933"/>
                </a:solidFill>
              </a:rPr>
              <a:t>Tree ensembles 0.54 vs linear 0.30 to 0.35 (20-split medians); one threshold brings linear to ≈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Stratify on the measure closest to the drug's target: one baseline assessment per arm separates response two- to five-fold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2611120"/>
        </p:xfrm>
        <a:graphic>
          <a:graphicData uri="http://schemas.openxmlformats.org/drawingml/2006/table">
            <a:tbl>
              <a:tblPr/>
              <a:tblGrid>
                <a:gridCol w="2103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tblGrid>
              <a:tr h="548640">
                <a:tc>
                  <a:txBody>
                    <a:bodyPr/>
                    <a:lstStyle/>
                    <a:p>
                      <a:pPr marL="0" indent="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Test patients who responded: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685800">
                <a:tc>
                  <a:txBody>
                    <a:bodyPr/>
                    <a:lstStyle/>
                    <a:p>
                      <a:pPr marL="0" indent="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21 (48%) vs 2 of 20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10 of 17 (59%) vs 8 of 26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17 of 23 (74%) vs 3 of 18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marL="0" indent="0">
              <a:buNone/>
            </a:pPr>
            <a:r>
              <a:rPr lang="en-US" sz="1700" b="1" dirty="0">
                <a:solidFill>
                  <a:srgbClr val="000000"/>
                </a:solidFill>
              </a:rPr>
              <a:t>AI disclosure</a:t>
            </a:r>
            <a:endParaRPr lang="en-US" sz="1700" dirty="0"/>
          </a:p>
        </p:txBody>
      </p:sp>
      <p:sp>
        <p:nvSpPr>
          <p:cNvPr id="3"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txBody>
          <a:bodyPr/>
          <a:lstStyle/>
          <a:p>
            <a:endParaRPr lang="en-US"/>
          </a:p>
        </p:txBody>
      </p:sp>
      <p:sp>
        <p:nvSpPr>
          <p:cNvPr id="8" name="Text 5"/>
          <p:cNvSpPr txBox="1"/>
          <p:nvPr/>
        </p:nvSpPr>
        <p:spPr>
          <a:xfrm>
            <a:off x="6720840" y="4709160"/>
            <a:ext cx="4663440" cy="1280160"/>
          </a:xfrm>
          <a:prstGeom prst="rect">
            <a:avLst/>
          </a:prstGeom>
          <a:noFill/>
          <a:ln/>
        </p:spPr>
        <p:txBody>
          <a:bodyPr wrap="square" lIns="0" tIns="0" rIns="0" bIns="0" rtlCol="0" anchor="ctr"/>
          <a:lstStyle/>
          <a:p>
            <a:pPr marL="0" indent="0">
              <a:buNone/>
            </a:pPr>
            <a:r>
              <a:rPr lang="en-US" sz="1400" dirty="0">
                <a:solidFill>
                  <a:srgbClr val="1F2933"/>
                </a:solidFill>
              </a:rPr>
              <a:t>Claude (via Claude Code) and Codex drafted code, documentation and slides. All decisions and interpretations were reviewed by the team, which is accountable for the results.</a:t>
            </a:r>
            <a:r>
              <a:t> Full record: github.com/euibeom135-cell/acop2026-hackathon-team1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icPr>
            <a:picLocks noChangeAspect="1"/>
          </p:cNvPicPr>
          <p:nvPr/>
        </p:nvPicPr>
        <p:blipFill>
          <a:blip r:embed="rId3"/>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icPr>
            <a:picLocks noChangeAspect="1"/>
          </p:cNvPicPr>
          <p:nvPr/>
        </p:nvPicPr>
        <p:blipFill>
          <a:blip r:embed="rId3"/>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marL="0" indent="0">
              <a:buNone/>
            </a:pPr>
            <a:r>
              <a:rPr lang="en-US" sz="1300" dirty="0">
                <a:solidFill>
                  <a:srgbClr val="5B6B7A"/>
                </a:solidFill>
              </a:rPr>
              <a:t>Filled dot = selected. Final call requires 4 of 5 methods and LASSO bootstrap stability ≥ 60% (signal); 2 votes and ≥ 20% (uncertain).</a:t>
            </a:r>
            <a:r>
              <a:t> Secondary candidate seen in two of three pipelines: disease duration (longer duration, less response), borderline 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783080">
                  <a:extLst>
                    <a:ext uri="{9D8B030D-6E8A-4147-A177-3AD203B41FA5}">
                      <a16:colId xmlns:a16="http://schemas.microsoft.com/office/drawing/2014/main" val="20004"/>
                    </a:ext>
                  </a:extLst>
                </a:gridCol>
              </a:tblGrid>
              <a:tr h="457200">
                <a:tc>
                  <a:txBody>
                    <a:bodyPr/>
                    <a:lstStyle/>
                    <a:p>
                      <a:pPr marL="0" indent="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marL="0" indent="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48640">
                <a:tc>
                  <a:txBody>
                    <a:bodyPr/>
                    <a:lstStyle/>
                    <a:p>
                      <a:pPr marL="0" indent="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marL="0" indent="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marL="0" indent="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68680"/>
          </a:xfrm>
          <a:prstGeom prst="rect">
            <a:avLst/>
          </a:prstGeom>
          <a:noFill/>
          <a:ln/>
        </p:spPr>
        <p:txBody>
          <a:bodyPr wrap="square" lIns="0" tIns="0" rIns="0" bIns="0" rtlCol="0" anchor="t"/>
          <a:lstStyle/>
          <a:p>
            <a:pPr marL="0" indent="0" algn="l">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marL="0" indent="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marL="0" indent="0">
              <a:spcAft>
                <a:spcPts val="600"/>
              </a:spcAft>
              <a:buNone/>
            </a:pPr>
            <a:r>
              <a:rPr lang="en-US" sz="1300" dirty="0">
                <a:solidFill>
                  <a:srgbClr val="1F2933"/>
                </a:solidFill>
              </a:rPr>
              <a:t>2. Cumming SA et al. Neurology 2019;93:e995-e1009. Genetic determinants of severity, OPTIMISTIC cohort.</a:t>
            </a:r>
            <a:endParaRPr lang="en-US" sz="1300" dirty="0"/>
          </a:p>
          <a:p>
            <a:pPr marL="0" indent="0">
              <a:spcAft>
                <a:spcPts val="600"/>
              </a:spcAft>
              <a:buNone/>
            </a:pPr>
            <a:r>
              <a:rPr lang="en-US" sz="1300" dirty="0">
                <a:solidFill>
                  <a:srgbClr val="1F2933"/>
                </a:solidFill>
              </a:rPr>
              <a:t>3. De Antonio M et al. Rev Neurol (Paris) 2016;172:572-80. DM1 clinical spectrum and onset-based classification.</a:t>
            </a:r>
            <a:endParaRPr lang="en-US" sz="1300" dirty="0"/>
          </a:p>
          <a:p>
            <a:pPr marL="0" indent="0">
              <a:spcAft>
                <a:spcPts val="600"/>
              </a:spcAft>
              <a:buNone/>
            </a:pPr>
            <a:r>
              <a:rPr lang="en-US" sz="1300" dirty="0">
                <a:solidFill>
                  <a:srgbClr val="1F2933"/>
                </a:solidFill>
              </a:rPr>
              <a:t>4. Okkersen K et al. Neurology 2017;89:960-9. Brain imaging in DM1: systematic review.</a:t>
            </a:r>
            <a:endParaRPr lang="en-US" sz="1300" dirty="0"/>
          </a:p>
          <a:p>
            <a:pPr marL="0" indent="0">
              <a:spcAft>
                <a:spcPts val="600"/>
              </a:spcAft>
              <a:buNone/>
            </a:pPr>
            <a:r>
              <a:rPr lang="en-US" sz="1300" dirty="0">
                <a:solidFill>
                  <a:srgbClr val="1F2933"/>
                </a:solidFill>
              </a:rPr>
              <a:t>5. Logigian EL et al. Neurology 2010;74:1441-8. Mexiletine as antimyotonia treatment in DM1.</a:t>
            </a:r>
            <a:endParaRPr lang="en-US" sz="1300" dirty="0"/>
          </a:p>
          <a:p>
            <a:pPr marL="0" indent="0">
              <a:spcAft>
                <a:spcPts val="600"/>
              </a:spcAft>
              <a:buNone/>
            </a:pPr>
            <a:r>
              <a:rPr lang="en-US" sz="1300" dirty="0">
                <a:solidFill>
                  <a:srgbClr val="1F2933"/>
                </a:solidFill>
              </a:rPr>
              <a:t>6. Heatwole C et al. Neurology 2021;96:e228-e240. Mexiletine in DM1: randomized placebo-controlled trial.</a:t>
            </a:r>
            <a:endParaRPr lang="en-US" sz="1300" dirty="0"/>
          </a:p>
          <a:p>
            <a:pPr marL="0" indent="0">
              <a:spcAft>
                <a:spcPts val="600"/>
              </a:spcAft>
              <a:buNone/>
            </a:pPr>
            <a:r>
              <a:rPr lang="en-US" sz="1300" dirty="0">
                <a:solidFill>
                  <a:srgbClr val="1F2933"/>
                </a:solidFill>
              </a:rPr>
              <a:t>7. Thornton CA et al. Lancet Neurol 2023;22:218-28. Antisense oligonucleotide targeting DMPK: phase 1/2a trial.</a:t>
            </a:r>
            <a:endParaRPr lang="en-US" sz="1300" dirty="0"/>
          </a:p>
          <a:p>
            <a:pPr marL="0" indent="0">
              <a:spcAft>
                <a:spcPts val="600"/>
              </a:spcAft>
              <a:buNone/>
            </a:pPr>
            <a:r>
              <a:rPr lang="en-US" sz="1300" dirty="0">
                <a:solidFill>
                  <a:srgbClr val="1F2933"/>
                </a:solidFill>
              </a:rPr>
              <a:t>8. Jones K et al. J Clin Invest 2012;122:4461-72. GSK3β mediates muscle pathology in DM1.</a:t>
            </a:r>
            <a:endParaRPr lang="en-US" sz="1300" dirty="0"/>
          </a:p>
          <a:p>
            <a:pPr marL="0" indent="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marL="0" indent="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2691</Words>
  <Application>Microsoft Macintosh PowerPoint</Application>
  <PresentationFormat>Widescreen</PresentationFormat>
  <Paragraphs>142</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Team 1 DM1</vt:lpstr>
      <vt:lpstr>Beyond CTG repeats: one predictor per drug</vt:lpstr>
      <vt:lpstr>Each arm has one dominant baseline predictor: the measure closest to the drug's site of action</vt:lpstr>
      <vt:lpstr>The three drugs act at different points of the DM1 cascade, so each arm was analysed separately</vt:lpstr>
      <vt:lpstr>Across the dominant covariate's range, predicted response spans 15% to 85%; onset phenotype adds little</vt:lpstr>
      <vt:lpstr>Covariate models match machine learning in two arms; tree ensembles lead in the third because the effect is a threshold</vt:lpstr>
      <vt:lpstr>Stratify on the measure closest to the drug's target: one baseline assessment per arm separates response two- to five-fold</vt:lpstr>
      <vt:lpstr>Backup: results are robust to the train/test split (20 seeds)</vt:lpstr>
      <vt:lpstr>Backup: covariate selection by method and arm</vt:lpstr>
      <vt:lpstr>Backup: the dominant covariate holds within each onset phenotype</vt:lpstr>
      <vt:lpstr>Backup: 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Euibeom Shin</cp:lastModifiedBy>
  <cp:revision>4</cp:revision>
  <dcterms:created xsi:type="dcterms:W3CDTF">2026-10-13T06:04:49Z</dcterms:created>
  <dcterms:modified xsi:type="dcterms:W3CDTF">2026-10-13T06:07:01Z</dcterms:modified>
</cp:coreProperties>
</file>