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endParaRPr/>
          </a:p>
          <a:p>
            <a:r>
              <a:t>Mexiletine: from mild to severe myotonia, predicted response rises from 17% to 38%. A symptomatic drug: the effect scales with the symptom present. Late-onset patients respond less because their baseline myotonia is mild; there is little to treat.</a:t>
            </a:r>
          </a:p>
          <a:p>
            <a:endParaRPr/>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endParaRPr/>
          </a:p>
          <a:p>
            <a:r>
              <a:t>Tideglusib: from impaired to intact cognition, 87% down to 14%, and it is a threshold near minus 0.5, not a gradient. The composite endpoint has a cognitive domain, so a patient with intact cognition has no room for measurable gain. A ceiling effect.</a:t>
            </a:r>
          </a:p>
          <a:p>
            <a:endParaRPr/>
          </a:p>
          <a:p>
            <a:r>
              <a:t>Onset phenotype adds little once the dominant covariate is in the model: the phenotype rows straddle the reference line.</a:t>
            </a:r>
          </a:p>
          <a:p>
            <a:endParaRPr/>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endParaRPr/>
          </a:p>
          <a:p>
            <a:r>
              <a:t>If asked what was noise: sex, BMI, smoking, cataracts, CK, PR interval and albumin in every arm; disease duration borderline everywhere.</a:t>
            </a:r>
          </a:p>
          <a:p>
            <a:endParaRPr/>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endParaRPr/>
          </a:p>
          <a:p>
            <a:r>
              <a:t>Mexiletine: every method lands between 0.47 and 0.54. Equivalent. Across 20 repeated splits the top rank alternates between stepwise selection and tuned XGBoost.</a:t>
            </a:r>
          </a:p>
          <a:p>
            <a:endParaRPr/>
          </a:p>
          <a:p>
            <a:r>
              <a:t>Oligonucleotide: every method is under 0.1, on every split. The repeat-length effect is consistent but between-patient variability dominates. We report that as it is.</a:t>
            </a:r>
          </a:p>
          <a:p>
            <a:endParaRPr/>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endParaRPr/>
          </a:p>
          <a:p>
            <a:r>
              <a:t>Intervals overlap within each arm, so we do not rank methods inside an arm. Machine learning was the check that nothing was missed: by permutation importance and SHAP it found the same leaders.</a:t>
            </a:r>
          </a:p>
          <a:p>
            <a:endParaRPr/>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6057236" cy="307777"/>
          </a:xfrm>
          <a:prstGeom prst="rect">
            <a:avLst/>
          </a:prstGeom>
          <a:noFill/>
        </p:spPr>
        <p:txBody>
          <a:bodyPr wrap="none" lIns="0" tIns="0" rIns="0" bIns="0">
            <a:spAutoFit/>
          </a:bodyPr>
          <a:lstStyle/>
          <a:p>
            <a:r>
              <a:rPr sz="2000" dirty="0" err="1">
                <a:solidFill>
                  <a:srgbClr val="5B6B7A"/>
                </a:solidFill>
                <a:latin typeface="Calibri"/>
              </a:rPr>
              <a:t>github.com</a:t>
            </a:r>
            <a:r>
              <a:rPr sz="2000" dirty="0">
                <a:solidFill>
                  <a:srgbClr val="5B6B7A"/>
                </a:solidFill>
                <a:latin typeface="Calibri"/>
              </a:rPr>
              <a:t>/euibeom135-cell/acop2026-hackathon-team1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across 20 splits; all methods within 0.05</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latin typeface="Calibri"/>
              </a:rPr>
              <a:t>Claude (via Claude Code) and Codex drafted code, documentation and slides. All decisions and interpretations were reviewed by the team, which is accountable for the results.</a:t>
            </a:r>
            <a:r>
              <a:rPr sz="1400">
                <a:latin typeface="Calibri"/>
              </a:rPr>
              <a:t> Full record: github.com/euibeom135-cell/acop2026-hackathon-team1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latin typeface="Calibri"/>
              </a:rPr>
              <a:t>Filled dot = selected. Final call requires 4 of 5 methods and LASSO bootstrap stability ≥ 60% (signal); 2 votes and ≥ 20% (uncertain).</a:t>
            </a:r>
            <a:r>
              <a:rPr sz="1300">
                <a:solidFill>
                  <a:srgbClr val="5B6B7A"/>
                </a:solidFill>
                <a:latin typeface="Calibri"/>
              </a:rP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2861</Words>
  <Application>Microsoft Macintosh PowerPoint</Application>
  <PresentationFormat>Widescreen</PresentationFormat>
  <Paragraphs>169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5</cp:revision>
  <dcterms:created xsi:type="dcterms:W3CDTF">2026-10-13T06:04:49Z</dcterms:created>
  <dcterms:modified xsi:type="dcterms:W3CDTF">2026-10-13T13:33:44Z</dcterms:modified>
</cp:coreProperties>
</file>