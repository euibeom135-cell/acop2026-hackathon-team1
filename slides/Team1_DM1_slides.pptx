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F02932E3-7153-1CC6-8DD2-C081C49AED8B}">
          <p14:sldIdLst>
            <p14:sldId id="256"/>
            <p14:sldId id="257"/>
            <p14:sldId id="258"/>
            <p14:sldId id="259"/>
            <p14:sldId id="260"/>
            <p14:sldId id="261"/>
            <p14:sldId id="262"/>
            <p14:sldId id="263"/>
          </p14:sldIdLst>
        </p14:section>
        <p14:section name="Backup" id="{B8E6D3D1-3096-7D79-9452-283B2196ACE5}">
          <p14:sldIdLst>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55999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Good morning, Team 1. Our question is the organizers' question: for each of three DM1 treatments, which baseline measurements tell us who will respond, and does machine learning find anything that standard covariate models miss? Direction reminder, once: for mexiletine a lower change in myotonia is better; for the other two, higher is better.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disease in one line: an expanded CTG repeat in the DMPK gene makes a toxic RNA; the RNA traps splicing proteins (MBNL1) and over-activates an enzyme (GSK3-beta), so many genes are mis-spliced; that damages muscle, brain, heart and eye; the patient has myotonia and weakness.
The three drugs act at three different points: the antisense oligonucleotide removes the toxic RNA, at the cause; tideglusib blocks the over-active enzyme, in the middle; mexiletine blocks sodium channels and calms muscle excitability, at the symptom. Different point of action, different endpoint, so three separate analyses.
The data: 500 simulated patients, one drug each, 18 baseline measures covering every organ system the disease touches, some of them noise by design.
Before modelling we looked: two clusters of measures move together, repeat length with myotonia severity (r 0.88) and age with onset age and duration; cognitive function stands apart. One cleaning finding: albumin was a single filled-in value for every mexiletine patient, so we excluded it there. No patient was removed.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workflow, four steps. Split first: a quarter of each arm is set aside, balanced on responders and onset type, with a fixed seed, and not opened until the end. Choose: every model setting, the penalty, the tree depth, the cut-off, is picked by 5-fold cross-validation inside the training part. Score once: every model is scored on the same test-set patients, about 41 per arm, with bootstrap intervals. Check: we added a column of random numbers as a fake covariate; any method that selects it is selecting noise. We also resampled 200 times for stability and required agreement across five methods.
Covariate models: stepwise, LASSO, elastic net, and a linear model on the agreed covariates. Machine learning: random forest and XGBoost, with importance read by permutation and SHAP.
Same yardstick for all: test-set R² and AUC. Three team members repeated the analysis in separate code, and we repeated the split 20 times.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Mexiletine blocks sodium channels and calms over-excitable muscle. It treats the symptom, myotonia, not the cause.
The figure: the dashed line is the predicted response of a reference patient, median on every measure; each row moves one thing. From mild to severe baseline myotonia, predicted response rises from 17% to 38%. Onset type adds little once severity is in.
The predictor is baseline myotonia severity, chosen by all five methods. CTG repeat length carries the same information, correlation 0.88, so we treat them as one axis.
On test-set patients, severity about 5 or more: 10 of 21 responded, 48%; below, 2 of 20, 10%. AUC 0.77.
One caution we state ourselves: the R² of 0.5 to 0.6 on absolute change is mostly arithmetic; patients with more myotonia have more to lose. On relative change the same axis still predicts, modestly, R² about 0.15, and on that scale CTG edges ahead of severity. A simple linear model does all of this; machine learning tied it and added nothing.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antisense oligonucleotide binds the toxic RNA and degrades it; it acts on the cause.
The predictor is CTG repeat length, which is the amount of the drug's target. It is the only measure selected, by all five methods, stable in 90% of resamples. From short to long repeats, predicted response rises from 22% to 75%.
But no method predicts the individual outcome: R² below 0.15 on every one of 20 splits, machine learning included. Patients with the same repeat length still differ a lot. We report that as it is.
On test-set patients, repeats about 350 or more: 10 of 17 responded, 59%; below, 8 of 26, 31%. AUC 0.72.
Reading for a trialist: the direction is knowable, the individual is not. Use repeat length to stratify randomisation, not to predict a patient's score.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Tideglusib blocks an over-active enzyme, GSK3-beta, with effects in several organs including the brain, and the outcome is a composite with a cognitive part.
The predictor is baseline cognitive function, chosen by all five methods, stable in 100% of resamples. And the effect is a step, not a slope: from impaired to intact cognition, predicted response drops from 87% to 14%, with the drop near z = -0.5. The reading is a ceiling effect: a patient with normal cognition has no room to gain on a cognition-weighted score.
This is the one place machine learning helped. Tree models reached R² 0.55 against 0.3 for straight lines, on 19 of 20 splits. Why: a straight line cannot draw a step. Give the linear model that one cut-off and it reaches 0.45. So machine learning found the shape of the effect, and we hand it back as a one-term rule.
Test-set patients: cognition below -0.5, 17 of 23 responded, 74%; above, 3 of 18, 17%.</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Pulling it together. One routine baseline measure per drug: myotonia severity before mexiletine, repeat length before the antisense drug, cognitive function before tideglusib. Each separates responders from non-responders two- to five-fold in the test set, and each sits where the drug acts.
Bei's one-line takeaway fits here: the strongest covariate depends on both the drug's mechanism of action and the endpoint being measured.
The hackathon question, in two parts. Did machine learning find additional predictors? No: same covariates, chosen by both families of method, the random column never selected, confirmed by three independent implementations and 20 repeated splits. Did it improve stratification? Yes, in one specific way: it found that the cognition effect is a threshold, and a one-term rule captures it. Its contribution was the functional form, not new features.
Across 20 splits the scores move by up to 0.15 in R², but the selected covariates barely move: the split moves the scores, not the covariates. That is why we never crown a winning model.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What we would not claim: there is no placebo arm, so these are predictors of doing well on the drug, not proof of who benefits from it. About 41 test patients per arm, so cut-offs are approximate and we do not rank methods inside an arm. One time point per patient; the next step is a longitudinal disease-progression model. AI disclosure: Claude and Codex drafted code, documentation and slides; every decision and interpretation was reviewed by the team, which is accountable. Everything is open in the repository. Thank you.</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R² varies by up to 0.15 between splits, hence ranges rather than point estimates. Cross-seed selection frequencies in Ming's pipeline agree: cognition 100%, CTG repeats 90%, myotonia 85%.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Bei's framing for Q&amp;A: a symptom-level drug tracks the symptom; a molecular drug tracks the genetic burden; a multisystem drug with a cognition-weighted endpoint tracks cognition. Cognition is only modestly correlated with the severity axis, which is why it is a separate predictor rather than a proxy.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we know the covariates are not an artefact of one person's choices: four pipelines, written independently in R and Python with different splits and different method sets, found the same three covariates. The talk slides quote one pipeline so that every number comes from the same test-set patients; the others are replication.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rtlCol="0"/>
          <a:lstStyle>
            <a:lvl1pPr marL="0" indent="0" algn="l">
              <a:buNone/>
              <a:defRPr lang="en-US" sz="4000" b="1" dirty="0">
                <a:solidFill>
                  <a:srgbClr val="000000"/>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rtlCol="0"/>
          <a:lstStyle>
            <a:lvl1pPr marL="0" indent="0" algn="l">
              <a:buNone/>
              <a:defRPr lang="en-US" sz="1800" dirty="0">
                <a:solidFill>
                  <a:srgbClr val="40404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2600" b="1" dirty="0">
                <a:solidFill>
                  <a:srgbClr val="000000"/>
                </a:solidFill>
              </a:defRPr>
            </a:lvl1pPr>
          </a:lstStyle>
          <a:p>
            <a:pPr marL="0" indent="0" algn="l">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lIns="0" tIns="0" rIns="0" bIns="0" rtlCol="0"/>
          <a:lstStyle/>
          <a:p>
            <a:pPr marL="0" indent="0" algn="l">
              <a:buNone/>
            </a:pPr>
            <a:r>
              <a:rPr lang="en-US" sz="4000" b="1" dirty="0">
                <a:solidFill>
                  <a:srgbClr val="000000"/>
                </a:solidFill>
              </a:rPr>
              <a:t>Beyond CTG repeats: one predictor per drug</a:t>
            </a: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lIns="0" tIns="0" rIns="0" bIns="0" rtlCol="0"/>
          <a:lstStyle/>
          <a:p>
            <a:pPr marL="0" indent="0" algn="l">
              <a:buNone/>
            </a:pPr>
            <a:r>
              <a:rPr lang="en-US" sz="1800" dirty="0">
                <a:solidFill>
                  <a:srgbClr val="404040"/>
                </a:solidFill>
              </a:rPr>
              <a:t>Which baseline measures predict who responds to three DM1 treatments, and does machine learning find more than standard covariate models?</a:t>
            </a:r>
            <a:endParaRPr lang="en-US" sz="1800" dirty="0"/>
          </a:p>
          <a:p>
            <a:pPr marL="0" indent="0" algn="l">
              <a:buNone/>
            </a:pPr>
            <a:r>
              <a:rPr lang="en-US" sz="800" dirty="0">
                <a:solidFill>
                  <a:srgbClr val="404040"/>
                </a:solidFill>
              </a:rPr>
              <a:t> </a:t>
            </a:r>
            <a:endParaRPr lang="en-US" sz="1800" dirty="0"/>
          </a:p>
          <a:p>
            <a:pPr marL="0" indent="0" algn="l">
              <a:buNone/>
            </a:pPr>
            <a:r>
              <a:rPr lang="en-US" sz="1500" dirty="0">
                <a:solidFill>
                  <a:srgbClr val="404040"/>
                </a:solidFill>
              </a:rPr>
              <a:t>Team 1 : Euibeom Shin, Wenzhe Ma, Leo Vuong, Bei Zhao, Ming Gao, Izumi Hamada</a:t>
            </a:r>
            <a:endParaRPr lang="en-US" sz="1800" dirty="0"/>
          </a:p>
          <a:p>
            <a:pPr marL="0" indent="0" algn="l">
              <a:buNone/>
            </a:pPr>
            <a:r>
              <a:rPr lang="en-US" sz="1500" dirty="0">
                <a:solidFill>
                  <a:srgbClr val="404040"/>
                </a:solidFill>
              </a:rPr>
              <a:t>ACoP 2026 Hackathon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Three drugs act at three different points of the disease, so we asked the question separately for each</a:t>
            </a:r>
            <a:endParaRPr lang="en-US" sz="2600" dirty="0"/>
          </a:p>
        </p:txBody>
      </p:sp>
      <p:sp>
        <p:nvSpPr>
          <p:cNvPr id="3" name="Shape 1"/>
          <p:cNvSpPr/>
          <p:nvPr/>
        </p:nvSpPr>
        <p:spPr>
          <a:xfrm>
            <a:off x="548640" y="1463040"/>
            <a:ext cx="2011680" cy="822960"/>
          </a:xfrm>
          <a:prstGeom prst="roundRect">
            <a:avLst>
              <a:gd name="adj" fmla="val 8889"/>
            </a:avLst>
          </a:prstGeom>
          <a:solidFill>
            <a:srgbClr val="3A3F45"/>
          </a:solidFill>
          <a:ln w="12700">
            <a:solidFill>
              <a:srgbClr val="3A3F45"/>
            </a:solidFill>
            <a:prstDash val="solid"/>
          </a:ln>
        </p:spPr>
        <p:txBody>
          <a:bodyPr/>
          <a:lstStyle/>
          <a:p>
            <a:endParaRPr lang="en-US"/>
          </a:p>
        </p:txBody>
      </p:sp>
      <p:sp>
        <p:nvSpPr>
          <p:cNvPr id="4" name="Text 2"/>
          <p:cNvSpPr txBox="1"/>
          <p:nvPr/>
        </p:nvSpPr>
        <p:spPr>
          <a:xfrm>
            <a:off x="548640" y="1463040"/>
            <a:ext cx="2011680" cy="822960"/>
          </a:xfrm>
          <a:prstGeom prst="rect">
            <a:avLst/>
          </a:prstGeom>
          <a:noFill/>
          <a:ln/>
        </p:spPr>
        <p:txBody>
          <a:bodyPr wrap="square" lIns="50800" tIns="50800" rIns="50800" bIns="50800" rtlCol="0" anchor="ctr"/>
          <a:lstStyle/>
          <a:p>
            <a:pPr marL="0" indent="0" algn="ctr">
              <a:buNone/>
            </a:pPr>
            <a:r>
              <a:rPr lang="en-US" sz="1300" dirty="0">
                <a:solidFill>
                  <a:srgbClr val="FFFFFF"/>
                </a:solidFill>
              </a:rPr>
              <a:t>Expanded CTG repeat in the DMPK gene</a:t>
            </a:r>
            <a:endParaRPr lang="en-US" sz="1300" dirty="0"/>
          </a:p>
        </p:txBody>
      </p:sp>
      <p:sp>
        <p:nvSpPr>
          <p:cNvPr id="5" name="Shape 3"/>
          <p:cNvSpPr/>
          <p:nvPr/>
        </p:nvSpPr>
        <p:spPr>
          <a:xfrm>
            <a:off x="2596896" y="173736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6" name="Shape 4"/>
          <p:cNvSpPr/>
          <p:nvPr/>
        </p:nvSpPr>
        <p:spPr>
          <a:xfrm>
            <a:off x="2811780" y="1463040"/>
            <a:ext cx="2011680" cy="822960"/>
          </a:xfrm>
          <a:prstGeom prst="roundRect">
            <a:avLst>
              <a:gd name="adj" fmla="val 8889"/>
            </a:avLst>
          </a:prstGeom>
          <a:solidFill>
            <a:srgbClr val="3A3F45"/>
          </a:solidFill>
          <a:ln w="12700">
            <a:solidFill>
              <a:srgbClr val="3A3F45"/>
            </a:solidFill>
            <a:prstDash val="solid"/>
          </a:ln>
        </p:spPr>
        <p:txBody>
          <a:bodyPr/>
          <a:lstStyle/>
          <a:p>
            <a:endParaRPr lang="en-US"/>
          </a:p>
        </p:txBody>
      </p:sp>
      <p:sp>
        <p:nvSpPr>
          <p:cNvPr id="7" name="Text 5"/>
          <p:cNvSpPr txBox="1"/>
          <p:nvPr/>
        </p:nvSpPr>
        <p:spPr>
          <a:xfrm>
            <a:off x="2811780" y="1463040"/>
            <a:ext cx="2011680" cy="822960"/>
          </a:xfrm>
          <a:prstGeom prst="rect">
            <a:avLst/>
          </a:prstGeom>
          <a:noFill/>
          <a:ln/>
        </p:spPr>
        <p:txBody>
          <a:bodyPr wrap="square" lIns="50800" tIns="50800" rIns="50800" bIns="50800" rtlCol="0" anchor="ctr"/>
          <a:lstStyle/>
          <a:p>
            <a:pPr marL="0" indent="0" algn="ctr">
              <a:buNone/>
            </a:pPr>
            <a:r>
              <a:rPr lang="en-US" sz="1300" dirty="0">
                <a:solidFill>
                  <a:srgbClr val="FFFFFF"/>
                </a:solidFill>
              </a:rPr>
              <a:t>Toxic RNA</a:t>
            </a:r>
            <a:endParaRPr lang="en-US" sz="1300" dirty="0"/>
          </a:p>
        </p:txBody>
      </p:sp>
      <p:sp>
        <p:nvSpPr>
          <p:cNvPr id="8" name="Shape 6"/>
          <p:cNvSpPr/>
          <p:nvPr/>
        </p:nvSpPr>
        <p:spPr>
          <a:xfrm>
            <a:off x="4860036" y="173736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9" name="Text 7"/>
          <p:cNvSpPr txBox="1"/>
          <p:nvPr/>
        </p:nvSpPr>
        <p:spPr>
          <a:xfrm>
            <a:off x="2674620" y="2359152"/>
            <a:ext cx="2286000" cy="502920"/>
          </a:xfrm>
          <a:prstGeom prst="rect">
            <a:avLst/>
          </a:prstGeom>
          <a:noFill/>
          <a:ln/>
        </p:spPr>
        <p:txBody>
          <a:bodyPr wrap="square" lIns="0" tIns="0" rIns="0" bIns="0" rtlCol="0" anchor="t"/>
          <a:lstStyle/>
          <a:p>
            <a:pPr marL="0" indent="0" algn="ctr">
              <a:buNone/>
            </a:pPr>
            <a:r>
              <a:rPr lang="en-US" sz="1250" b="1" dirty="0">
                <a:solidFill>
                  <a:srgbClr val="D95F0E"/>
                </a:solidFill>
              </a:rPr>
              <a:t>Antisense drug removes the toxic RNA</a:t>
            </a:r>
            <a:endParaRPr lang="en-US" sz="1250" dirty="0"/>
          </a:p>
        </p:txBody>
      </p:sp>
      <p:sp>
        <p:nvSpPr>
          <p:cNvPr id="10" name="Shape 8"/>
          <p:cNvSpPr/>
          <p:nvPr/>
        </p:nvSpPr>
        <p:spPr>
          <a:xfrm>
            <a:off x="5074920" y="1463040"/>
            <a:ext cx="2011680" cy="822960"/>
          </a:xfrm>
          <a:prstGeom prst="roundRect">
            <a:avLst>
              <a:gd name="adj" fmla="val 8889"/>
            </a:avLst>
          </a:prstGeom>
          <a:solidFill>
            <a:srgbClr val="3A3F45"/>
          </a:solidFill>
          <a:ln w="12700">
            <a:solidFill>
              <a:srgbClr val="3A3F45"/>
            </a:solidFill>
            <a:prstDash val="solid"/>
          </a:ln>
        </p:spPr>
        <p:txBody>
          <a:bodyPr/>
          <a:lstStyle/>
          <a:p>
            <a:endParaRPr lang="en-US"/>
          </a:p>
        </p:txBody>
      </p:sp>
      <p:sp>
        <p:nvSpPr>
          <p:cNvPr id="11" name="Text 9"/>
          <p:cNvSpPr txBox="1"/>
          <p:nvPr/>
        </p:nvSpPr>
        <p:spPr>
          <a:xfrm>
            <a:off x="5074920" y="1463040"/>
            <a:ext cx="2011680" cy="822960"/>
          </a:xfrm>
          <a:prstGeom prst="rect">
            <a:avLst/>
          </a:prstGeom>
          <a:noFill/>
          <a:ln/>
        </p:spPr>
        <p:txBody>
          <a:bodyPr wrap="square" lIns="50800" tIns="50800" rIns="50800" bIns="50800" rtlCol="0" anchor="ctr"/>
          <a:lstStyle/>
          <a:p>
            <a:pPr marL="0" indent="0" algn="ctr">
              <a:buNone/>
            </a:pPr>
            <a:r>
              <a:rPr lang="en-US" sz="1300" dirty="0">
                <a:solidFill>
                  <a:srgbClr val="FFFFFF"/>
                </a:solidFill>
              </a:rPr>
              <a:t>Faulty splicing of many genes</a:t>
            </a:r>
            <a:endParaRPr lang="en-US" sz="1300" dirty="0"/>
          </a:p>
        </p:txBody>
      </p:sp>
      <p:sp>
        <p:nvSpPr>
          <p:cNvPr id="12" name="Shape 10"/>
          <p:cNvSpPr/>
          <p:nvPr/>
        </p:nvSpPr>
        <p:spPr>
          <a:xfrm>
            <a:off x="7123176" y="173736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3" name="Text 11"/>
          <p:cNvSpPr txBox="1"/>
          <p:nvPr/>
        </p:nvSpPr>
        <p:spPr>
          <a:xfrm>
            <a:off x="4937760" y="2359152"/>
            <a:ext cx="2286000" cy="502920"/>
          </a:xfrm>
          <a:prstGeom prst="rect">
            <a:avLst/>
          </a:prstGeom>
          <a:noFill/>
          <a:ln/>
        </p:spPr>
        <p:txBody>
          <a:bodyPr wrap="square" lIns="0" tIns="0" rIns="0" bIns="0" rtlCol="0" anchor="t"/>
          <a:lstStyle/>
          <a:p>
            <a:pPr marL="0" indent="0" algn="ctr">
              <a:buNone/>
            </a:pPr>
            <a:r>
              <a:rPr lang="en-US" sz="1250" b="1" dirty="0">
                <a:solidFill>
                  <a:srgbClr val="D95F0E"/>
                </a:solidFill>
              </a:rPr>
              <a:t>Tideglusib blocks an over-active enzyme</a:t>
            </a:r>
            <a:endParaRPr lang="en-US" sz="1250" dirty="0"/>
          </a:p>
        </p:txBody>
      </p:sp>
      <p:sp>
        <p:nvSpPr>
          <p:cNvPr id="14" name="Shape 12"/>
          <p:cNvSpPr/>
          <p:nvPr/>
        </p:nvSpPr>
        <p:spPr>
          <a:xfrm>
            <a:off x="7338060" y="1463040"/>
            <a:ext cx="2011680" cy="822960"/>
          </a:xfrm>
          <a:prstGeom prst="roundRect">
            <a:avLst>
              <a:gd name="adj" fmla="val 8889"/>
            </a:avLst>
          </a:prstGeom>
          <a:solidFill>
            <a:srgbClr val="3A3F45"/>
          </a:solidFill>
          <a:ln w="12700">
            <a:solidFill>
              <a:srgbClr val="3A3F45"/>
            </a:solidFill>
            <a:prstDash val="solid"/>
          </a:ln>
        </p:spPr>
        <p:txBody>
          <a:bodyPr/>
          <a:lstStyle/>
          <a:p>
            <a:endParaRPr lang="en-US"/>
          </a:p>
        </p:txBody>
      </p:sp>
      <p:sp>
        <p:nvSpPr>
          <p:cNvPr id="15" name="Text 13"/>
          <p:cNvSpPr txBox="1"/>
          <p:nvPr/>
        </p:nvSpPr>
        <p:spPr>
          <a:xfrm>
            <a:off x="7338060" y="1463040"/>
            <a:ext cx="2011680" cy="822960"/>
          </a:xfrm>
          <a:prstGeom prst="rect">
            <a:avLst/>
          </a:prstGeom>
          <a:noFill/>
          <a:ln/>
        </p:spPr>
        <p:txBody>
          <a:bodyPr wrap="square" lIns="50800" tIns="50800" rIns="50800" bIns="50800" rtlCol="0" anchor="ctr"/>
          <a:lstStyle/>
          <a:p>
            <a:pPr marL="0" indent="0" algn="ctr">
              <a:buNone/>
            </a:pPr>
            <a:r>
              <a:rPr lang="en-US" sz="1300" dirty="0">
                <a:solidFill>
                  <a:srgbClr val="FFFFFF"/>
                </a:solidFill>
              </a:rPr>
              <a:t>Damage to muscle, brain, heart, eye</a:t>
            </a:r>
            <a:endParaRPr lang="en-US" sz="1300" dirty="0"/>
          </a:p>
        </p:txBody>
      </p:sp>
      <p:sp>
        <p:nvSpPr>
          <p:cNvPr id="16" name="Shape 14"/>
          <p:cNvSpPr/>
          <p:nvPr/>
        </p:nvSpPr>
        <p:spPr>
          <a:xfrm>
            <a:off x="9386316" y="173736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7" name="Shape 15"/>
          <p:cNvSpPr/>
          <p:nvPr/>
        </p:nvSpPr>
        <p:spPr>
          <a:xfrm>
            <a:off x="9601200" y="1463040"/>
            <a:ext cx="2011680" cy="822960"/>
          </a:xfrm>
          <a:prstGeom prst="roundRect">
            <a:avLst>
              <a:gd name="adj" fmla="val 8889"/>
            </a:avLst>
          </a:prstGeom>
          <a:solidFill>
            <a:srgbClr val="3A3F45"/>
          </a:solidFill>
          <a:ln w="12700">
            <a:solidFill>
              <a:srgbClr val="3A3F45"/>
            </a:solidFill>
            <a:prstDash val="solid"/>
          </a:ln>
        </p:spPr>
        <p:txBody>
          <a:bodyPr/>
          <a:lstStyle/>
          <a:p>
            <a:endParaRPr lang="en-US"/>
          </a:p>
        </p:txBody>
      </p:sp>
      <p:sp>
        <p:nvSpPr>
          <p:cNvPr id="18" name="Text 16"/>
          <p:cNvSpPr txBox="1"/>
          <p:nvPr/>
        </p:nvSpPr>
        <p:spPr>
          <a:xfrm>
            <a:off x="9601200" y="1463040"/>
            <a:ext cx="2011680" cy="822960"/>
          </a:xfrm>
          <a:prstGeom prst="rect">
            <a:avLst/>
          </a:prstGeom>
          <a:noFill/>
          <a:ln/>
        </p:spPr>
        <p:txBody>
          <a:bodyPr wrap="square" lIns="50800" tIns="50800" rIns="50800" bIns="50800" rtlCol="0" anchor="ctr"/>
          <a:lstStyle/>
          <a:p>
            <a:pPr marL="0" indent="0" algn="ctr">
              <a:buNone/>
            </a:pPr>
            <a:r>
              <a:rPr lang="en-US" sz="1300" dirty="0">
                <a:solidFill>
                  <a:srgbClr val="FFFFFF"/>
                </a:solidFill>
              </a:rPr>
              <a:t>Symptoms: myotonia, weakness</a:t>
            </a:r>
            <a:endParaRPr lang="en-US" sz="1300" dirty="0"/>
          </a:p>
        </p:txBody>
      </p:sp>
      <p:sp>
        <p:nvSpPr>
          <p:cNvPr id="19" name="Text 17"/>
          <p:cNvSpPr txBox="1"/>
          <p:nvPr/>
        </p:nvSpPr>
        <p:spPr>
          <a:xfrm>
            <a:off x="9464040" y="2359152"/>
            <a:ext cx="2286000" cy="502920"/>
          </a:xfrm>
          <a:prstGeom prst="rect">
            <a:avLst/>
          </a:prstGeom>
          <a:noFill/>
          <a:ln/>
        </p:spPr>
        <p:txBody>
          <a:bodyPr wrap="square" lIns="0" tIns="0" rIns="0" bIns="0" rtlCol="0" anchor="t"/>
          <a:lstStyle/>
          <a:p>
            <a:pPr marL="0" indent="0" algn="ctr">
              <a:buNone/>
            </a:pPr>
            <a:r>
              <a:rPr lang="en-US" sz="1250" b="1" dirty="0">
                <a:solidFill>
                  <a:srgbClr val="D95F0E"/>
                </a:solidFill>
              </a:rPr>
              <a:t>Mexiletine calms muscle excitability</a:t>
            </a:r>
            <a:endParaRPr lang="en-US" sz="1250" dirty="0"/>
          </a:p>
        </p:txBody>
      </p:sp>
      <p:sp>
        <p:nvSpPr>
          <p:cNvPr id="20" name="Text 18"/>
          <p:cNvSpPr txBox="1"/>
          <p:nvPr/>
        </p:nvSpPr>
        <p:spPr>
          <a:xfrm>
            <a:off x="548640" y="3200400"/>
            <a:ext cx="5212080" cy="347472"/>
          </a:xfrm>
          <a:prstGeom prst="rect">
            <a:avLst/>
          </a:prstGeom>
          <a:noFill/>
          <a:ln/>
        </p:spPr>
        <p:txBody>
          <a:bodyPr wrap="square" lIns="0" tIns="0" rIns="0" bIns="0" rtlCol="0" anchor="ctr"/>
          <a:lstStyle/>
          <a:p>
            <a:pPr marL="0" indent="0">
              <a:buNone/>
            </a:pPr>
            <a:r>
              <a:rPr lang="en-US" sz="1600" b="1" dirty="0">
                <a:solidFill>
                  <a:srgbClr val="000000"/>
                </a:solidFill>
              </a:rPr>
              <a:t>The data</a:t>
            </a:r>
            <a:endParaRPr lang="en-US" sz="1600" dirty="0"/>
          </a:p>
        </p:txBody>
      </p:sp>
      <p:sp>
        <p:nvSpPr>
          <p:cNvPr id="21" name="Text 19"/>
          <p:cNvSpPr txBox="1"/>
          <p:nvPr/>
        </p:nvSpPr>
        <p:spPr>
          <a:xfrm>
            <a:off x="548640" y="3584448"/>
            <a:ext cx="521208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500 simulated patients, one treatment each (161 / 170 / 169 per arm); one outcome per patient</a:t>
            </a:r>
            <a:endParaRPr lang="en-US" sz="1400" dirty="0"/>
          </a:p>
          <a:p>
            <a:pPr marL="177800" indent="-177800">
              <a:spcAft>
                <a:spcPts val="700"/>
              </a:spcAft>
              <a:buSzPct val="100000"/>
              <a:buChar char="•"/>
            </a:pPr>
            <a:r>
              <a:rPr lang="en-US" sz="1400" dirty="0">
                <a:solidFill>
                  <a:srgbClr val="1F2933"/>
                </a:solidFill>
              </a:rPr>
              <a:t>18 baseline measures: genetics, disease course, muscle, brain, heart, eye, metabolism, demographics. Some are noise by design</a:t>
            </a:r>
            <a:endParaRPr lang="en-US" sz="1400" dirty="0"/>
          </a:p>
          <a:p>
            <a:pPr marL="177800" indent="-177800">
              <a:spcAft>
                <a:spcPts val="700"/>
              </a:spcAft>
              <a:buSzPct val="100000"/>
              <a:buChar char="•"/>
            </a:pPr>
            <a:r>
              <a:rPr lang="en-US" sz="1400" dirty="0">
                <a:solidFill>
                  <a:srgbClr val="1F2933"/>
                </a:solidFill>
              </a:rPr>
              <a:t>Responders: 29% / 41% / 48% of patients</a:t>
            </a:r>
            <a:endParaRPr lang="en-US" sz="1400" dirty="0"/>
          </a:p>
        </p:txBody>
      </p:sp>
      <p:sp>
        <p:nvSpPr>
          <p:cNvPr id="22" name="Text 20"/>
          <p:cNvSpPr txBox="1"/>
          <p:nvPr/>
        </p:nvSpPr>
        <p:spPr>
          <a:xfrm>
            <a:off x="6217920" y="3200400"/>
            <a:ext cx="5394960" cy="347472"/>
          </a:xfrm>
          <a:prstGeom prst="rect">
            <a:avLst/>
          </a:prstGeom>
          <a:noFill/>
          <a:ln/>
        </p:spPr>
        <p:txBody>
          <a:bodyPr wrap="square" lIns="0" tIns="0" rIns="0" bIns="0" rtlCol="0" anchor="ctr"/>
          <a:lstStyle/>
          <a:p>
            <a:pPr marL="0" indent="0">
              <a:buNone/>
            </a:pPr>
            <a:r>
              <a:rPr lang="en-US" sz="1600" b="1" dirty="0">
                <a:solidFill>
                  <a:srgbClr val="000000"/>
                </a:solidFill>
              </a:rPr>
              <a:t>Exploratory analysis</a:t>
            </a:r>
            <a:endParaRPr lang="en-US" sz="1600" dirty="0"/>
          </a:p>
        </p:txBody>
      </p:sp>
      <p:sp>
        <p:nvSpPr>
          <p:cNvPr id="23" name="Text 21"/>
          <p:cNvSpPr txBox="1"/>
          <p:nvPr/>
        </p:nvSpPr>
        <p:spPr>
          <a:xfrm>
            <a:off x="6217920" y="3584448"/>
            <a:ext cx="539496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Two clusters of measures move together: repeat length with myotonia severity; age with onset age and disease duration</a:t>
            </a:r>
            <a:endParaRPr lang="en-US" sz="1400" dirty="0"/>
          </a:p>
          <a:p>
            <a:pPr marL="177800" indent="-177800">
              <a:spcAft>
                <a:spcPts val="700"/>
              </a:spcAft>
              <a:buSzPct val="100000"/>
              <a:buChar char="•"/>
            </a:pPr>
            <a:r>
              <a:rPr lang="en-US" sz="1400" dirty="0">
                <a:solidFill>
                  <a:srgbClr val="1F2933"/>
                </a:solidFill>
              </a:rPr>
              <a:t>Cognitive function stands apart from both clusters</a:t>
            </a:r>
            <a:endParaRPr lang="en-US" sz="1400" dirty="0"/>
          </a:p>
          <a:p>
            <a:pPr marL="177800" indent="-177800">
              <a:spcAft>
                <a:spcPts val="700"/>
              </a:spcAft>
              <a:buSzPct val="100000"/>
              <a:buChar char="•"/>
            </a:pPr>
            <a:r>
              <a:rPr lang="en-US" sz="1400" dirty="0">
                <a:solidFill>
                  <a:srgbClr val="1F2933"/>
                </a:solidFill>
              </a:rPr>
              <a:t>Albumin was one constant value for every mexiletine patient: excluded in that arm. No patient removed</a:t>
            </a:r>
            <a:endParaRPr lang="en-US" sz="1400" dirty="0"/>
          </a:p>
        </p:txBody>
      </p:sp>
      <p:sp>
        <p:nvSpPr>
          <p:cNvPr id="24" name="Text 22"/>
          <p:cNvSpPr txBox="1"/>
          <p:nvPr/>
        </p:nvSpPr>
        <p:spPr>
          <a:xfrm>
            <a:off x="548640" y="6355080"/>
            <a:ext cx="11064240" cy="274320"/>
          </a:xfrm>
          <a:prstGeom prst="rect">
            <a:avLst/>
          </a:prstGeom>
          <a:noFill/>
          <a:ln/>
        </p:spPr>
        <p:txBody>
          <a:bodyPr wrap="square" lIns="0" tIns="0" rIns="0" bIns="0" rtlCol="0" anchor="t"/>
          <a:lstStyle/>
          <a:p>
            <a:pPr marL="0" indent="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We split first, chose every setting by cross-validation, scored the test set once, and checked every method against planted noise</a:t>
            </a:r>
            <a:endParaRPr lang="en-US" sz="2600" dirty="0"/>
          </a:p>
        </p:txBody>
      </p:sp>
      <p:sp>
        <p:nvSpPr>
          <p:cNvPr id="3" name="Shape 1"/>
          <p:cNvSpPr/>
          <p:nvPr/>
        </p:nvSpPr>
        <p:spPr>
          <a:xfrm>
            <a:off x="548640" y="1463040"/>
            <a:ext cx="2606040" cy="1737360"/>
          </a:xfrm>
          <a:prstGeom prst="roundRect">
            <a:avLst>
              <a:gd name="adj" fmla="val 4211"/>
            </a:avLst>
          </a:prstGeom>
          <a:solidFill>
            <a:srgbClr val="F2F2F2"/>
          </a:solidFill>
          <a:ln w="12700">
            <a:solidFill>
              <a:srgbClr val="F2F2F2"/>
            </a:solidFill>
            <a:prstDash val="solid"/>
          </a:ln>
        </p:spPr>
        <p:txBody>
          <a:bodyPr/>
          <a:lstStyle/>
          <a:p>
            <a:endParaRPr lang="en-US"/>
          </a:p>
        </p:txBody>
      </p:sp>
      <p:sp>
        <p:nvSpPr>
          <p:cNvPr id="4" name="Text 2"/>
          <p:cNvSpPr txBox="1"/>
          <p:nvPr/>
        </p:nvSpPr>
        <p:spPr>
          <a:xfrm>
            <a:off x="731520" y="1554480"/>
            <a:ext cx="2286000" cy="365760"/>
          </a:xfrm>
          <a:prstGeom prst="rect">
            <a:avLst/>
          </a:prstGeom>
          <a:noFill/>
          <a:ln/>
        </p:spPr>
        <p:txBody>
          <a:bodyPr wrap="square" lIns="0" tIns="0" rIns="0" bIns="0" rtlCol="0" anchor="ctr"/>
          <a:lstStyle/>
          <a:p>
            <a:pPr marL="0" indent="0">
              <a:buNone/>
            </a:pPr>
            <a:r>
              <a:rPr lang="en-US" sz="1600" b="1" dirty="0">
                <a:solidFill>
                  <a:srgbClr val="000000"/>
                </a:solidFill>
              </a:rPr>
              <a:t>1  Split</a:t>
            </a:r>
            <a:endParaRPr lang="en-US" sz="1600" dirty="0"/>
          </a:p>
        </p:txBody>
      </p:sp>
      <p:sp>
        <p:nvSpPr>
          <p:cNvPr id="5" name="Text 3"/>
          <p:cNvSpPr txBox="1"/>
          <p:nvPr/>
        </p:nvSpPr>
        <p:spPr>
          <a:xfrm>
            <a:off x="731520" y="1965960"/>
            <a:ext cx="2286000" cy="1188720"/>
          </a:xfrm>
          <a:prstGeom prst="rect">
            <a:avLst/>
          </a:prstGeom>
          <a:noFill/>
          <a:ln/>
        </p:spPr>
        <p:txBody>
          <a:bodyPr wrap="square" lIns="0" tIns="0" rIns="0" bIns="0" rtlCol="0" anchor="t"/>
          <a:lstStyle/>
          <a:p>
            <a:pPr marL="0" indent="0">
              <a:buNone/>
            </a:pPr>
            <a:r>
              <a:rPr lang="en-US" sz="1300" dirty="0">
                <a:solidFill>
                  <a:srgbClr val="1F2933"/>
                </a:solidFill>
              </a:rPr>
              <a:t>A quarter of each arm set aside, balanced on responders and onset type, fixed seed. Not touched until the end.</a:t>
            </a:r>
            <a:endParaRPr lang="en-US" sz="1300" dirty="0"/>
          </a:p>
        </p:txBody>
      </p:sp>
      <p:sp>
        <p:nvSpPr>
          <p:cNvPr id="6" name="Shape 4"/>
          <p:cNvSpPr/>
          <p:nvPr/>
        </p:nvSpPr>
        <p:spPr>
          <a:xfrm>
            <a:off x="3364992" y="1463040"/>
            <a:ext cx="2606040" cy="1737360"/>
          </a:xfrm>
          <a:prstGeom prst="roundRect">
            <a:avLst>
              <a:gd name="adj" fmla="val 4211"/>
            </a:avLst>
          </a:prstGeom>
          <a:solidFill>
            <a:srgbClr val="F2F2F2"/>
          </a:solidFill>
          <a:ln w="12700">
            <a:solidFill>
              <a:srgbClr val="F2F2F2"/>
            </a:solidFill>
            <a:prstDash val="solid"/>
          </a:ln>
        </p:spPr>
        <p:txBody>
          <a:bodyPr/>
          <a:lstStyle/>
          <a:p>
            <a:endParaRPr lang="en-US"/>
          </a:p>
        </p:txBody>
      </p:sp>
      <p:sp>
        <p:nvSpPr>
          <p:cNvPr id="7" name="Text 5"/>
          <p:cNvSpPr txBox="1"/>
          <p:nvPr/>
        </p:nvSpPr>
        <p:spPr>
          <a:xfrm>
            <a:off x="3547872" y="1554480"/>
            <a:ext cx="2286000" cy="365760"/>
          </a:xfrm>
          <a:prstGeom prst="rect">
            <a:avLst/>
          </a:prstGeom>
          <a:noFill/>
          <a:ln/>
        </p:spPr>
        <p:txBody>
          <a:bodyPr wrap="square" lIns="0" tIns="0" rIns="0" bIns="0" rtlCol="0" anchor="ctr"/>
          <a:lstStyle/>
          <a:p>
            <a:pPr marL="0" indent="0">
              <a:buNone/>
            </a:pPr>
            <a:r>
              <a:rPr lang="en-US" sz="1600" b="1" dirty="0">
                <a:solidFill>
                  <a:srgbClr val="000000"/>
                </a:solidFill>
              </a:rPr>
              <a:t>2  Choose</a:t>
            </a:r>
            <a:endParaRPr lang="en-US" sz="1600" dirty="0"/>
          </a:p>
        </p:txBody>
      </p:sp>
      <p:sp>
        <p:nvSpPr>
          <p:cNvPr id="8" name="Text 6"/>
          <p:cNvSpPr txBox="1"/>
          <p:nvPr/>
        </p:nvSpPr>
        <p:spPr>
          <a:xfrm>
            <a:off x="3547872" y="1965960"/>
            <a:ext cx="2286000" cy="1188720"/>
          </a:xfrm>
          <a:prstGeom prst="rect">
            <a:avLst/>
          </a:prstGeom>
          <a:noFill/>
          <a:ln/>
        </p:spPr>
        <p:txBody>
          <a:bodyPr wrap="square" lIns="0" tIns="0" rIns="0" bIns="0" rtlCol="0" anchor="t"/>
          <a:lstStyle/>
          <a:p>
            <a:pPr marL="0" indent="0">
              <a:buNone/>
            </a:pPr>
            <a:r>
              <a:rPr lang="en-US" sz="1300" dirty="0">
                <a:solidFill>
                  <a:srgbClr val="1F2933"/>
                </a:solidFill>
              </a:rPr>
              <a:t>Every model setting picked by 5-fold cross-validation inside the training part.</a:t>
            </a:r>
            <a:endParaRPr lang="en-US" sz="1300" dirty="0"/>
          </a:p>
        </p:txBody>
      </p:sp>
      <p:sp>
        <p:nvSpPr>
          <p:cNvPr id="9" name="Shape 7"/>
          <p:cNvSpPr/>
          <p:nvPr/>
        </p:nvSpPr>
        <p:spPr>
          <a:xfrm>
            <a:off x="6181344" y="1463040"/>
            <a:ext cx="2606040" cy="1737360"/>
          </a:xfrm>
          <a:prstGeom prst="roundRect">
            <a:avLst>
              <a:gd name="adj" fmla="val 4211"/>
            </a:avLst>
          </a:prstGeom>
          <a:solidFill>
            <a:srgbClr val="F2F2F2"/>
          </a:solidFill>
          <a:ln w="12700">
            <a:solidFill>
              <a:srgbClr val="F2F2F2"/>
            </a:solidFill>
            <a:prstDash val="solid"/>
          </a:ln>
        </p:spPr>
        <p:txBody>
          <a:bodyPr/>
          <a:lstStyle/>
          <a:p>
            <a:endParaRPr lang="en-US"/>
          </a:p>
        </p:txBody>
      </p:sp>
      <p:sp>
        <p:nvSpPr>
          <p:cNvPr id="10" name="Text 8"/>
          <p:cNvSpPr txBox="1"/>
          <p:nvPr/>
        </p:nvSpPr>
        <p:spPr>
          <a:xfrm>
            <a:off x="6364224" y="1554480"/>
            <a:ext cx="2286000" cy="365760"/>
          </a:xfrm>
          <a:prstGeom prst="rect">
            <a:avLst/>
          </a:prstGeom>
          <a:noFill/>
          <a:ln/>
        </p:spPr>
        <p:txBody>
          <a:bodyPr wrap="square" lIns="0" tIns="0" rIns="0" bIns="0" rtlCol="0" anchor="ctr"/>
          <a:lstStyle/>
          <a:p>
            <a:pPr marL="0" indent="0">
              <a:buNone/>
            </a:pPr>
            <a:r>
              <a:rPr lang="en-US" sz="1600" b="1" dirty="0">
                <a:solidFill>
                  <a:srgbClr val="000000"/>
                </a:solidFill>
              </a:rPr>
              <a:t>3  Score once</a:t>
            </a:r>
            <a:endParaRPr lang="en-US" sz="1600" dirty="0"/>
          </a:p>
        </p:txBody>
      </p:sp>
      <p:sp>
        <p:nvSpPr>
          <p:cNvPr id="11" name="Text 9"/>
          <p:cNvSpPr txBox="1"/>
          <p:nvPr/>
        </p:nvSpPr>
        <p:spPr>
          <a:xfrm>
            <a:off x="6364224" y="1965960"/>
            <a:ext cx="2286000" cy="1188720"/>
          </a:xfrm>
          <a:prstGeom prst="rect">
            <a:avLst/>
          </a:prstGeom>
          <a:noFill/>
          <a:ln/>
        </p:spPr>
        <p:txBody>
          <a:bodyPr wrap="square" lIns="0" tIns="0" rIns="0" bIns="0" rtlCol="0" anchor="t"/>
          <a:lstStyle/>
          <a:p>
            <a:pPr marL="0" indent="0">
              <a:buNone/>
            </a:pPr>
            <a:r>
              <a:rPr lang="en-US" sz="1300" dirty="0">
                <a:solidFill>
                  <a:srgbClr val="1F2933"/>
                </a:solidFill>
              </a:rPr>
              <a:t>All models scored on the same test-set patients (about 41 per arm), with bootstrap intervals.</a:t>
            </a:r>
            <a:endParaRPr lang="en-US" sz="1300" dirty="0"/>
          </a:p>
        </p:txBody>
      </p:sp>
      <p:sp>
        <p:nvSpPr>
          <p:cNvPr id="12" name="Shape 10"/>
          <p:cNvSpPr/>
          <p:nvPr/>
        </p:nvSpPr>
        <p:spPr>
          <a:xfrm>
            <a:off x="8997696" y="1463040"/>
            <a:ext cx="2606040" cy="1737360"/>
          </a:xfrm>
          <a:prstGeom prst="roundRect">
            <a:avLst>
              <a:gd name="adj" fmla="val 4211"/>
            </a:avLst>
          </a:prstGeom>
          <a:solidFill>
            <a:srgbClr val="F2F2F2"/>
          </a:solidFill>
          <a:ln w="12700">
            <a:solidFill>
              <a:srgbClr val="F2F2F2"/>
            </a:solidFill>
            <a:prstDash val="solid"/>
          </a:ln>
        </p:spPr>
        <p:txBody>
          <a:bodyPr/>
          <a:lstStyle/>
          <a:p>
            <a:endParaRPr lang="en-US"/>
          </a:p>
        </p:txBody>
      </p:sp>
      <p:sp>
        <p:nvSpPr>
          <p:cNvPr id="13" name="Text 11"/>
          <p:cNvSpPr txBox="1"/>
          <p:nvPr/>
        </p:nvSpPr>
        <p:spPr>
          <a:xfrm>
            <a:off x="9180576" y="1554480"/>
            <a:ext cx="2286000" cy="365760"/>
          </a:xfrm>
          <a:prstGeom prst="rect">
            <a:avLst/>
          </a:prstGeom>
          <a:noFill/>
          <a:ln/>
        </p:spPr>
        <p:txBody>
          <a:bodyPr wrap="square" lIns="0" tIns="0" rIns="0" bIns="0" rtlCol="0" anchor="ctr"/>
          <a:lstStyle/>
          <a:p>
            <a:pPr marL="0" indent="0">
              <a:buNone/>
            </a:pPr>
            <a:r>
              <a:rPr lang="en-US" sz="1600" b="1" dirty="0">
                <a:solidFill>
                  <a:srgbClr val="000000"/>
                </a:solidFill>
              </a:rPr>
              <a:t>4  Check</a:t>
            </a:r>
            <a:endParaRPr lang="en-US" sz="1600" dirty="0"/>
          </a:p>
        </p:txBody>
      </p:sp>
      <p:sp>
        <p:nvSpPr>
          <p:cNvPr id="14" name="Text 12"/>
          <p:cNvSpPr txBox="1"/>
          <p:nvPr/>
        </p:nvSpPr>
        <p:spPr>
          <a:xfrm>
            <a:off x="9180576" y="1965960"/>
            <a:ext cx="2286000" cy="1188720"/>
          </a:xfrm>
          <a:prstGeom prst="rect">
            <a:avLst/>
          </a:prstGeom>
          <a:noFill/>
          <a:ln/>
        </p:spPr>
        <p:txBody>
          <a:bodyPr wrap="square" lIns="0" tIns="0" rIns="0" bIns="0" rtlCol="0" anchor="t"/>
          <a:lstStyle/>
          <a:p>
            <a:pPr marL="0" indent="0">
              <a:buNone/>
            </a:pPr>
            <a:r>
              <a:rPr lang="en-US" sz="1300" dirty="0">
                <a:solidFill>
                  <a:srgbClr val="1F2933"/>
                </a:solidFill>
              </a:rPr>
              <a:t>A random-number column added as a covariate; 200 bootstrap resamples for stability; agreement across five methods.</a:t>
            </a:r>
            <a:endParaRPr lang="en-US" sz="1300" dirty="0"/>
          </a:p>
        </p:txBody>
      </p:sp>
      <p:sp>
        <p:nvSpPr>
          <p:cNvPr id="15" name="Text 13"/>
          <p:cNvSpPr txBox="1"/>
          <p:nvPr/>
        </p:nvSpPr>
        <p:spPr>
          <a:xfrm>
            <a:off x="548640" y="3566160"/>
            <a:ext cx="5212080" cy="347472"/>
          </a:xfrm>
          <a:prstGeom prst="rect">
            <a:avLst/>
          </a:prstGeom>
          <a:noFill/>
          <a:ln/>
        </p:spPr>
        <p:txBody>
          <a:bodyPr wrap="square" lIns="0" tIns="0" rIns="0" bIns="0" rtlCol="0" anchor="ctr"/>
          <a:lstStyle/>
          <a:p>
            <a:pPr marL="0" indent="0">
              <a:buNone/>
            </a:pPr>
            <a:r>
              <a:rPr lang="en-US" sz="1600" b="1" dirty="0">
                <a:solidFill>
                  <a:srgbClr val="000000"/>
                </a:solidFill>
              </a:rPr>
              <a:t>Covariate models</a:t>
            </a:r>
            <a:endParaRPr lang="en-US" sz="1600" dirty="0"/>
          </a:p>
        </p:txBody>
      </p:sp>
      <p:sp>
        <p:nvSpPr>
          <p:cNvPr id="16" name="Text 14"/>
          <p:cNvSpPr txBox="1"/>
          <p:nvPr/>
        </p:nvSpPr>
        <p:spPr>
          <a:xfrm>
            <a:off x="548640" y="3950208"/>
            <a:ext cx="521208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Stepwise selection (BIC), LASSO, elastic net</a:t>
            </a:r>
            <a:endParaRPr lang="en-US" sz="1400" dirty="0"/>
          </a:p>
          <a:p>
            <a:pPr marL="177800" indent="-177800">
              <a:spcAft>
                <a:spcPts val="700"/>
              </a:spcAft>
              <a:buSzPct val="100000"/>
              <a:buChar char="•"/>
            </a:pPr>
            <a:r>
              <a:rPr lang="en-US" sz="1400" dirty="0">
                <a:solidFill>
                  <a:srgbClr val="1F2933"/>
                </a:solidFill>
              </a:rPr>
              <a:t>Plus a linear model on the agreed covariates, with one cut-off where the data show a step</a:t>
            </a:r>
            <a:endParaRPr lang="en-US" sz="1400" dirty="0"/>
          </a:p>
        </p:txBody>
      </p:sp>
      <p:sp>
        <p:nvSpPr>
          <p:cNvPr id="17" name="Text 15"/>
          <p:cNvSpPr txBox="1"/>
          <p:nvPr/>
        </p:nvSpPr>
        <p:spPr>
          <a:xfrm>
            <a:off x="6217920" y="3566160"/>
            <a:ext cx="5394960" cy="347472"/>
          </a:xfrm>
          <a:prstGeom prst="rect">
            <a:avLst/>
          </a:prstGeom>
          <a:noFill/>
          <a:ln/>
        </p:spPr>
        <p:txBody>
          <a:bodyPr wrap="square" lIns="0" tIns="0" rIns="0" bIns="0" rtlCol="0" anchor="ctr"/>
          <a:lstStyle/>
          <a:p>
            <a:pPr marL="0" indent="0">
              <a:buNone/>
            </a:pPr>
            <a:r>
              <a:rPr lang="en-US" sz="1600" b="1" dirty="0">
                <a:solidFill>
                  <a:srgbClr val="000000"/>
                </a:solidFill>
              </a:rPr>
              <a:t>Machine learning</a:t>
            </a:r>
            <a:endParaRPr lang="en-US" sz="1600" dirty="0"/>
          </a:p>
        </p:txBody>
      </p:sp>
      <p:sp>
        <p:nvSpPr>
          <p:cNvPr id="18" name="Text 16"/>
          <p:cNvSpPr txBox="1"/>
          <p:nvPr/>
        </p:nvSpPr>
        <p:spPr>
          <a:xfrm>
            <a:off x="6217920" y="3950208"/>
            <a:ext cx="539496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Random forest; XGBoost untuned and tuned</a:t>
            </a:r>
            <a:endParaRPr lang="en-US" sz="1400" dirty="0"/>
          </a:p>
          <a:p>
            <a:pPr marL="177800" indent="-177800">
              <a:spcAft>
                <a:spcPts val="700"/>
              </a:spcAft>
              <a:buSzPct val="100000"/>
              <a:buChar char="•"/>
            </a:pPr>
            <a:r>
              <a:rPr lang="en-US" sz="1400" dirty="0">
                <a:solidFill>
                  <a:srgbClr val="1F2933"/>
                </a:solidFill>
              </a:rPr>
              <a:t>Importance read by permutation and SHAP; a covariate counts only if it beats the random column</a:t>
            </a:r>
            <a:endParaRPr lang="en-US" sz="1400" dirty="0"/>
          </a:p>
        </p:txBody>
      </p:sp>
      <p:sp>
        <p:nvSpPr>
          <p:cNvPr id="19" name="Shape 17"/>
          <p:cNvSpPr/>
          <p:nvPr/>
        </p:nvSpPr>
        <p:spPr>
          <a:xfrm>
            <a:off x="548640" y="5257800"/>
            <a:ext cx="11064240" cy="868680"/>
          </a:xfrm>
          <a:prstGeom prst="roundRect">
            <a:avLst>
              <a:gd name="adj" fmla="val 8421"/>
            </a:avLst>
          </a:prstGeom>
          <a:solidFill>
            <a:srgbClr val="F2F2F2"/>
          </a:solidFill>
          <a:ln w="12700">
            <a:solidFill>
              <a:srgbClr val="F2F2F2"/>
            </a:solidFill>
            <a:prstDash val="solid"/>
          </a:ln>
        </p:spPr>
        <p:txBody>
          <a:bodyPr/>
          <a:lstStyle/>
          <a:p>
            <a:endParaRPr lang="en-US"/>
          </a:p>
        </p:txBody>
      </p:sp>
      <p:sp>
        <p:nvSpPr>
          <p:cNvPr id="20" name="Text 18"/>
          <p:cNvSpPr txBox="1"/>
          <p:nvPr/>
        </p:nvSpPr>
        <p:spPr>
          <a:xfrm>
            <a:off x="777240" y="5349240"/>
            <a:ext cx="10607040" cy="685800"/>
          </a:xfrm>
          <a:prstGeom prst="rect">
            <a:avLst/>
          </a:prstGeom>
          <a:noFill/>
          <a:ln/>
        </p:spPr>
        <p:txBody>
          <a:bodyPr wrap="square" lIns="0" tIns="0" rIns="0" bIns="0" rtlCol="0" anchor="ctr"/>
          <a:lstStyle/>
          <a:p>
            <a:pPr marL="0" indent="0">
              <a:buNone/>
            </a:pPr>
            <a:r>
              <a:rPr lang="en-US" sz="1350" b="1" dirty="0">
                <a:solidFill>
                  <a:srgbClr val="1F2933"/>
                </a:solidFill>
              </a:rPr>
              <a:t>Same yardstick for every method: </a:t>
            </a:r>
            <a:r>
              <a:rPr lang="en-US" sz="1350" dirty="0">
                <a:solidFill>
                  <a:srgbClr val="1F2933"/>
                </a:solidFill>
              </a:rPr>
              <a:t>R² for the continuous outcome and AUC for the responder label, on the same test-set patients. Independently repeated by three team members in separate code (R and Python) and over 20 different splits.</a:t>
            </a:r>
            <a:endParaRPr lang="en-US" sz="1350" dirty="0"/>
          </a:p>
        </p:txBody>
      </p:sp>
      <p:sp>
        <p:nvSpPr>
          <p:cNvPr id="21" name="Text 19"/>
          <p:cNvSpPr txBox="1"/>
          <p:nvPr/>
        </p:nvSpPr>
        <p:spPr>
          <a:xfrm>
            <a:off x="548640" y="6355080"/>
            <a:ext cx="11064240" cy="274320"/>
          </a:xfrm>
          <a:prstGeom prst="rect">
            <a:avLst/>
          </a:prstGeom>
          <a:noFill/>
          <a:ln/>
        </p:spPr>
        <p:txBody>
          <a:bodyPr wrap="square" lIns="0" tIns="0" rIns="0" bIns="0" rtlCol="0" anchor="t"/>
          <a:lstStyle/>
          <a:p>
            <a:pPr marL="0" indent="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Mexiletine: patients with more severe myotonia respond more, because the drug treats that symptom</a:t>
            </a:r>
            <a:endParaRPr lang="en-US" sz="2600" dirty="0"/>
          </a:p>
        </p:txBody>
      </p:sp>
      <p:pic>
        <p:nvPicPr>
          <p:cNvPr id="3" name="Image 0" descr="/Users/euibeoms/Desktop/ACoP/hackathon/slides/figs/fig_forest_Mexiletine.png"/>
          <p:cNvPicPr>
            <a:picLocks noChangeAspect="1"/>
          </p:cNvPicPr>
          <p:nvPr/>
        </p:nvPicPr>
        <p:blipFill>
          <a:blip r:embed="rId3"/>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marL="0" indent="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marL="0" indent="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marL="0" indent="0">
              <a:buNone/>
            </a:pPr>
            <a:r>
              <a:rPr lang="en-US" sz="1300" dirty="0">
                <a:solidFill>
                  <a:srgbClr val="1F2933"/>
                </a:solidFill>
              </a:rPr>
              <a:t>Calms over-excitable muscle (sodium-channel blocker). Treats the symptom, not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marL="0" indent="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marL="0" indent="0">
              <a:buNone/>
            </a:pPr>
            <a:r>
              <a:rPr lang="en-US" sz="1300" dirty="0">
                <a:solidFill>
                  <a:srgbClr val="1F2933"/>
                </a:solidFill>
              </a:rPr>
              <a:t>Baseline myotonia severity, chosen by all five methods. CTG repeat length carries the same information (r 0.88): one axis, not two predictors.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marL="0" indent="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marL="0" indent="0">
              <a:buNone/>
            </a:pPr>
            <a:r>
              <a:rPr lang="en-US" sz="1300" dirty="0">
                <a:solidFill>
                  <a:srgbClr val="1F2933"/>
                </a:solidFill>
              </a:rPr>
              <a:t>A linear model on myotonia severity. Machine learning tied it and added nothing.</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txBody>
          <a:bodyPr/>
          <a:lstStyle/>
          <a:p>
            <a:endParaRPr lang="en-US"/>
          </a:p>
        </p:txBody>
      </p:sp>
      <p:sp>
        <p:nvSpPr>
          <p:cNvPr id="12" name="Text 9"/>
          <p:cNvSpPr txBox="1"/>
          <p:nvPr/>
        </p:nvSpPr>
        <p:spPr>
          <a:xfrm>
            <a:off x="777240" y="5120640"/>
            <a:ext cx="10607040" cy="1005840"/>
          </a:xfrm>
          <a:prstGeom prst="rect">
            <a:avLst/>
          </a:prstGeom>
          <a:noFill/>
          <a:ln/>
        </p:spPr>
        <p:txBody>
          <a:bodyPr wrap="square" lIns="0" tIns="0" rIns="0" bIns="0" rtlCol="0" anchor="ctr"/>
          <a:lstStyle/>
          <a:p>
            <a:pPr marL="0" indent="0">
              <a:buNone/>
            </a:pPr>
            <a:r>
              <a:rPr lang="en-US" sz="1350" b="1" dirty="0">
                <a:solidFill>
                  <a:srgbClr val="1F2933"/>
                </a:solidFill>
              </a:rPr>
              <a:t>Test-set patients: </a:t>
            </a:r>
            <a:r>
              <a:rPr lang="en-US" sz="1350" dirty="0">
                <a:solidFill>
                  <a:srgbClr val="1F2933"/>
                </a:solidFill>
              </a:rPr>
              <a:t>severity about 5 or more: 10 of 21 responded (48%); below: 2 of 20 (10%). Responder AUC 0.77. </a:t>
            </a:r>
            <a:r>
              <a:rPr lang="en-US" sz="1350" b="1" dirty="0">
                <a:solidFill>
                  <a:srgbClr val="1F2933"/>
                </a:solidFill>
              </a:rPr>
              <a:t>A caution: </a:t>
            </a:r>
            <a:r>
              <a:rPr lang="en-US" sz="1350" dirty="0">
                <a:solidFill>
                  <a:srgbClr val="1F2933"/>
                </a:solidFill>
              </a:rPr>
              <a:t>R² is 0.5 to 0.6 on absolute change because sicker patients have more to lose; on relative change the same axis still predicts, modestly (R² about 0.15), and there CTG edges ahead of severity.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marL="0" indent="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Antisense oligonucleotide: patients with longer CTG repeats respond more, but individual response stays hard to predict</a:t>
            </a:r>
            <a:endParaRPr lang="en-US" sz="2600" dirty="0"/>
          </a:p>
        </p:txBody>
      </p:sp>
      <p:pic>
        <p:nvPicPr>
          <p:cNvPr id="3" name="Image 0" descr="/Users/euibeoms/Desktop/ACoP/hackathon/slides/figs/fig_forest_Oligonucleotide.png"/>
          <p:cNvPicPr>
            <a:picLocks noChangeAspect="1"/>
          </p:cNvPicPr>
          <p:nvPr/>
        </p:nvPicPr>
        <p:blipFill>
          <a:blip r:embed="rId3"/>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marL="0" indent="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marL="0" indent="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marL="0" indent="0">
              <a:buNone/>
            </a:pPr>
            <a:r>
              <a:rPr lang="en-US" sz="1300" dirty="0">
                <a:solidFill>
                  <a:srgbClr val="1F2933"/>
                </a:solidFill>
              </a:rPr>
              <a:t>Binds and degrades the toxic DMPK RNA. Acts on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marL="0" indent="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marL="0" indent="0">
              <a:buNone/>
            </a:pPr>
            <a:r>
              <a:rPr lang="en-US" sz="1300" dirty="0">
                <a:solidFill>
                  <a:srgbClr val="1F2933"/>
                </a:solidFill>
              </a:rPr>
              <a:t>CTG repeat length, the amount of the drug's target. The only measure selected; chosen by all five methods, stable in 90% of resamples.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marL="0" indent="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marL="0" indent="0">
              <a:buNone/>
            </a:pPr>
            <a:r>
              <a:rPr lang="en-US" sz="1300" dirty="0">
                <a:solidFill>
                  <a:srgbClr val="1F2933"/>
                </a:solidFill>
              </a:rPr>
              <a:t>A linear model on repeat length. No method predicts the individual outcome: R² below 0.15 on every split, machine learning included.</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txBody>
          <a:bodyPr/>
          <a:lstStyle/>
          <a:p>
            <a:endParaRPr lang="en-US"/>
          </a:p>
        </p:txBody>
      </p:sp>
      <p:sp>
        <p:nvSpPr>
          <p:cNvPr id="12" name="Text 9"/>
          <p:cNvSpPr txBox="1"/>
          <p:nvPr/>
        </p:nvSpPr>
        <p:spPr>
          <a:xfrm>
            <a:off x="777240" y="5120640"/>
            <a:ext cx="10607040" cy="1005840"/>
          </a:xfrm>
          <a:prstGeom prst="rect">
            <a:avLst/>
          </a:prstGeom>
          <a:noFill/>
          <a:ln/>
        </p:spPr>
        <p:txBody>
          <a:bodyPr wrap="square" lIns="0" tIns="0" rIns="0" bIns="0" rtlCol="0" anchor="ctr"/>
          <a:lstStyle/>
          <a:p>
            <a:pPr marL="0" indent="0">
              <a:buNone/>
            </a:pPr>
            <a:r>
              <a:rPr lang="en-US" sz="1350" b="1" dirty="0">
                <a:solidFill>
                  <a:srgbClr val="1F2933"/>
                </a:solidFill>
              </a:rPr>
              <a:t>Test-set patients: </a:t>
            </a:r>
            <a:r>
              <a:rPr lang="en-US" sz="1350" dirty="0">
                <a:solidFill>
                  <a:srgbClr val="1F2933"/>
                </a:solidFill>
              </a:rPr>
              <a:t>repeats about 350 or more: 10 of 17 responded (59%); below: 8 of 26 (31%). Responder AUC 0.72; R² under 0.1. </a:t>
            </a:r>
            <a:r>
              <a:rPr lang="en-US" sz="1350" b="1" dirty="0">
                <a:solidFill>
                  <a:srgbClr val="1F2933"/>
                </a:solidFill>
              </a:rPr>
              <a:t>Reading: </a:t>
            </a:r>
            <a:r>
              <a:rPr lang="en-US" sz="1350" dirty="0">
                <a:solidFill>
                  <a:srgbClr val="1F2933"/>
                </a:solidFill>
              </a:rPr>
              <a:t>the direction is knowable, the individual is not. Use repeat length to stratify a trial, not to predict a patient's score.</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marL="0" indent="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Tideglusib: response depends on baseline cognition as a threshold; machine learning found the shape, and one rule captures it</a:t>
            </a:r>
            <a:endParaRPr lang="en-US" sz="2600" dirty="0"/>
          </a:p>
        </p:txBody>
      </p:sp>
      <p:pic>
        <p:nvPicPr>
          <p:cNvPr id="3" name="Image 0" descr="/Users/euibeoms/Desktop/ACoP/hackathon/slides/figs/fig_forest_Tideglusib.png"/>
          <p:cNvPicPr>
            <a:picLocks noChangeAspect="1"/>
          </p:cNvPicPr>
          <p:nvPr/>
        </p:nvPicPr>
        <p:blipFill>
          <a:blip r:embed="rId3"/>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marL="0" indent="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marL="0" indent="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marL="0" indent="0">
              <a:buNone/>
            </a:pPr>
            <a:r>
              <a:rPr lang="en-US" sz="1300" dirty="0">
                <a:solidFill>
                  <a:srgbClr val="1F2933"/>
                </a:solidFill>
              </a:rPr>
              <a:t>Blocks an over-active enzyme (GSK3β) with effects in several organs, including the brain. The outcome is a composite with a cognitive part.</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marL="0" indent="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marL="0" indent="0">
              <a:buNone/>
            </a:pPr>
            <a:r>
              <a:rPr lang="en-US" sz="1300" dirty="0">
                <a:solidFill>
                  <a:srgbClr val="1F2933"/>
                </a:solidFill>
              </a:rPr>
              <a:t>Baseline cognitive function, chosen by all five methods, stable in 100% of resamples. The effect is a step near z = -0.5, not a gradient: a ceiling effect, patients with normal cognition have no room to gain.</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marL="0" indent="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marL="0" indent="0">
              <a:buNone/>
            </a:pPr>
            <a:r>
              <a:rPr lang="en-US" sz="1300" dirty="0">
                <a:solidFill>
                  <a:srgbClr val="1F2933"/>
                </a:solidFill>
              </a:rPr>
              <a:t>Tree models reached R² 0.55 against 0.3 for straight lines; a linear model with the one cut-off reaches 0.45. We use the rule.</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txBody>
          <a:bodyPr/>
          <a:lstStyle/>
          <a:p>
            <a:endParaRPr lang="en-US"/>
          </a:p>
        </p:txBody>
      </p:sp>
      <p:sp>
        <p:nvSpPr>
          <p:cNvPr id="12" name="Text 9"/>
          <p:cNvSpPr txBox="1"/>
          <p:nvPr/>
        </p:nvSpPr>
        <p:spPr>
          <a:xfrm>
            <a:off x="777240" y="5120640"/>
            <a:ext cx="10607040" cy="1005840"/>
          </a:xfrm>
          <a:prstGeom prst="rect">
            <a:avLst/>
          </a:prstGeom>
          <a:noFill/>
          <a:ln/>
        </p:spPr>
        <p:txBody>
          <a:bodyPr wrap="square" lIns="0" tIns="0" rIns="0" bIns="0" rtlCol="0" anchor="ctr"/>
          <a:lstStyle/>
          <a:p>
            <a:pPr marL="0" indent="0">
              <a:buNone/>
            </a:pPr>
            <a:r>
              <a:rPr lang="en-US" sz="1350" b="1" dirty="0">
                <a:solidFill>
                  <a:srgbClr val="1F2933"/>
                </a:solidFill>
              </a:rPr>
              <a:t>Test-set patients: </a:t>
            </a:r>
            <a:r>
              <a:rPr lang="en-US" sz="1350" dirty="0">
                <a:solidFill>
                  <a:srgbClr val="1F2933"/>
                </a:solidFill>
              </a:rPr>
              <a:t>cognition below about -0.5: 17 of 23 responded (74%); above: 3 of 18 (17%). AUC 0.78 for the rule, 0.87 for the forest. </a:t>
            </a:r>
            <a:r>
              <a:rPr lang="en-US" sz="1350" b="1" dirty="0">
                <a:solidFill>
                  <a:srgbClr val="1F2933"/>
                </a:solidFill>
              </a:rPr>
              <a:t>This is where machine learning helped: </a:t>
            </a:r>
            <a:r>
              <a:rPr lang="en-US" sz="1350" dirty="0">
                <a:solidFill>
                  <a:srgbClr val="1F2933"/>
                </a:solidFill>
              </a:rPr>
              <a:t>it found the shape of the effect; we hand it back as a one-term rule a clinic can apply.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marL="0" indent="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One routine baseline measure per drug separates responders two- to five-fold in the test set; machine learning added the shape of one effect, not new predictors</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507488"/>
        </p:xfrm>
        <a:graphic>
          <a:graphicData uri="http://schemas.openxmlformats.org/drawingml/2006/table">
            <a:tbl>
              <a:tblPr/>
              <a:tblGrid>
                <a:gridCol w="1737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502920">
                <a:tc>
                  <a:txBody>
                    <a:bodyPr/>
                    <a:lstStyle/>
                    <a:p>
                      <a:pPr marL="0" indent="0">
                        <a:buNone/>
                      </a:pPr>
                      <a:r>
                        <a:rPr lang="en-US" sz="1250" b="1" dirty="0">
                          <a:solidFill>
                            <a:srgbClr val="000000"/>
                          </a:solidFill>
                        </a:rPr>
                        <a:t>Treatment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Measure before treating</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Cut-off</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Test patients who responded: above vs below</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Test-set metrics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Trial design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658368">
                <a:tc>
                  <a:txBody>
                    <a:bodyPr/>
                    <a:lstStyle/>
                    <a:p>
                      <a:pPr marL="0" indent="0">
                        <a:buNone/>
                      </a:pPr>
                      <a:r>
                        <a:rPr lang="en-US" sz="1250" b="1" dirty="0">
                          <a:solidFill>
                            <a:srgbClr val="1F2933"/>
                          </a:solidFill>
                        </a:rPr>
                        <a:t>Mexiletine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Myotonia severity (CTG repeats: same axis)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 about 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10 of 21 (48%) vs 2 of 20 (10%)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AUC 0.77; R² 0.5 absolute, ≈0.15 relative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Enrol on symptom severity, not diagnosis alone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658368">
                <a:tc>
                  <a:txBody>
                    <a:bodyPr/>
                    <a:lstStyle/>
                    <a:p>
                      <a:pPr marL="0" indent="0">
                        <a:buNone/>
                      </a:pPr>
                      <a:r>
                        <a:rPr lang="en-US" sz="1250" b="1" dirty="0">
                          <a:solidFill>
                            <a:srgbClr val="1F2933"/>
                          </a:solidFill>
                        </a:rPr>
                        <a:t>Antisense oligonucleotide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CTG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 about 350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10 of 17 (59%) vs 8 of 26 (31%)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AUC 0.72; R² &lt; 0.1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Stratify randomisation on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658368">
                <a:tc>
                  <a:txBody>
                    <a:bodyPr/>
                    <a:lstStyle/>
                    <a:p>
                      <a:pPr marL="0" indent="0">
                        <a:buNone/>
                      </a:pPr>
                      <a:r>
                        <a:rPr lang="en-US" sz="1250" b="1" dirty="0">
                          <a:solidFill>
                            <a:srgbClr val="1F2933"/>
                          </a:solidFill>
                        </a:rPr>
                        <a:t>Tideglusib</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&lt; about -0.5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17 of 23 (74%) vs 3 of 18 (17%)</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AUC 0.78 (rule), 0.87 (forest); R² 0.45 / 0.55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Enrich for cognitive impairment: 48% → 74% responders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Shape 1"/>
          <p:cNvSpPr/>
          <p:nvPr/>
        </p:nvSpPr>
        <p:spPr>
          <a:xfrm>
            <a:off x="548640" y="4251960"/>
            <a:ext cx="11064240" cy="1828800"/>
          </a:xfrm>
          <a:prstGeom prst="roundRect">
            <a:avLst>
              <a:gd name="adj" fmla="val 4000"/>
            </a:avLst>
          </a:prstGeom>
          <a:solidFill>
            <a:srgbClr val="F2F2F2"/>
          </a:solidFill>
          <a:ln w="12700">
            <a:solidFill>
              <a:srgbClr val="F2F2F2"/>
            </a:solidFill>
            <a:prstDash val="solid"/>
          </a:ln>
        </p:spPr>
        <p:txBody>
          <a:bodyPr/>
          <a:lstStyle/>
          <a:p>
            <a:endParaRPr lang="en-US"/>
          </a:p>
        </p:txBody>
      </p:sp>
      <p:sp>
        <p:nvSpPr>
          <p:cNvPr id="5" name="Text 2"/>
          <p:cNvSpPr txBox="1"/>
          <p:nvPr/>
        </p:nvSpPr>
        <p:spPr>
          <a:xfrm>
            <a:off x="777240" y="4343400"/>
            <a:ext cx="10607040" cy="1645920"/>
          </a:xfrm>
          <a:prstGeom prst="rect">
            <a:avLst/>
          </a:prstGeom>
          <a:noFill/>
          <a:ln/>
        </p:spPr>
        <p:txBody>
          <a:bodyPr wrap="square" lIns="0" tIns="0" rIns="0" bIns="0" rtlCol="0" anchor="ctr"/>
          <a:lstStyle/>
          <a:p>
            <a:pPr marL="0" indent="0">
              <a:buNone/>
            </a:pPr>
            <a:r>
              <a:rPr lang="en-US" sz="1400" b="1" dirty="0">
                <a:solidFill>
                  <a:srgbClr val="1F2933"/>
                </a:solidFill>
              </a:rPr>
              <a:t>Did machine learning find additional predictors? No. </a:t>
            </a:r>
            <a:r>
              <a:rPr lang="en-US" sz="1400" dirty="0">
                <a:solidFill>
                  <a:srgbClr val="1F2933"/>
                </a:solidFill>
              </a:rPr>
              <a:t>The same covariates in every arm, chosen by covariate models and machine learning alike; a planted random column was never selected; three independent implementations and 20 repeated splits agree. </a:t>
            </a:r>
            <a:r>
              <a:rPr lang="en-US" sz="1400" b="1" dirty="0">
                <a:solidFill>
                  <a:srgbClr val="1F2933"/>
                </a:solidFill>
              </a:rPr>
              <a:t>Did it improve stratification? Yes, in one way: </a:t>
            </a:r>
            <a:r>
              <a:rPr lang="en-US" sz="1400" dirty="0">
                <a:solidFill>
                  <a:srgbClr val="1F2933"/>
                </a:solidFill>
              </a:rPr>
              <a:t>it found that the cognition effect is a threshold, and a one-term rule captures it. </a:t>
            </a:r>
            <a:r>
              <a:rPr lang="en-US" sz="1400" b="1" dirty="0">
                <a:solidFill>
                  <a:srgbClr val="1F2933"/>
                </a:solidFill>
              </a:rPr>
              <a:t>The split moves the scores, not the covariates.</a:t>
            </a:r>
            <a:endParaRPr lang="en-US" sz="1400" dirty="0"/>
          </a:p>
        </p:txBody>
      </p:sp>
      <p:sp>
        <p:nvSpPr>
          <p:cNvPr id="6" name="Text 3"/>
          <p:cNvSpPr txBox="1"/>
          <p:nvPr/>
        </p:nvSpPr>
        <p:spPr>
          <a:xfrm>
            <a:off x="548640" y="6355080"/>
            <a:ext cx="11064240" cy="274320"/>
          </a:xfrm>
          <a:prstGeom prst="rect">
            <a:avLst/>
          </a:prstGeom>
          <a:noFill/>
          <a:ln/>
        </p:spPr>
        <p:txBody>
          <a:bodyPr wrap="square" lIns="0" tIns="0" rIns="0" bIns="0" rtlCol="0" anchor="t"/>
          <a:lstStyle/>
          <a:p>
            <a:pPr marL="0" indent="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What we would not claim, and what we used</a:t>
            </a:r>
            <a:endParaRPr lang="en-US" sz="2600" dirty="0"/>
          </a:p>
        </p:txBody>
      </p:sp>
      <p:sp>
        <p:nvSpPr>
          <p:cNvPr id="3" name="Text 1"/>
          <p:cNvSpPr txBox="1"/>
          <p:nvPr/>
        </p:nvSpPr>
        <p:spPr>
          <a:xfrm>
            <a:off x="548640" y="1463040"/>
            <a:ext cx="5394960" cy="347472"/>
          </a:xfrm>
          <a:prstGeom prst="rect">
            <a:avLst/>
          </a:prstGeom>
          <a:noFill/>
          <a:ln/>
        </p:spPr>
        <p:txBody>
          <a:bodyPr wrap="square" lIns="0" tIns="0" rIns="0" bIns="0" rtlCol="0" anchor="ctr"/>
          <a:lstStyle/>
          <a:p>
            <a:pPr marL="0" indent="0">
              <a:buNone/>
            </a:pPr>
            <a:r>
              <a:rPr lang="en-US" sz="1600" b="1" dirty="0">
                <a:solidFill>
                  <a:srgbClr val="000000"/>
                </a:solidFill>
              </a:rPr>
              <a:t>Limits</a:t>
            </a:r>
            <a:endParaRPr lang="en-US" sz="1600" dirty="0"/>
          </a:p>
        </p:txBody>
      </p:sp>
      <p:sp>
        <p:nvSpPr>
          <p:cNvPr id="4" name="Text 2"/>
          <p:cNvSpPr txBox="1"/>
          <p:nvPr/>
        </p:nvSpPr>
        <p:spPr>
          <a:xfrm>
            <a:off x="548640" y="1874520"/>
            <a:ext cx="5394960" cy="365760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No placebo arm: these are predictors of doing well on the drug, not proof of who benefits from it</a:t>
            </a:r>
            <a:endParaRPr lang="en-US" sz="1400" dirty="0"/>
          </a:p>
          <a:p>
            <a:pPr marL="177800" indent="-177800">
              <a:spcAft>
                <a:spcPts val="700"/>
              </a:spcAft>
              <a:buSzPct val="100000"/>
              <a:buChar char="•"/>
            </a:pPr>
            <a:r>
              <a:rPr lang="en-US" sz="1400" dirty="0">
                <a:solidFill>
                  <a:srgbClr val="1F2933"/>
                </a:solidFill>
              </a:rPr>
              <a:t>About 41 test patients per arm: cut-offs are approximate, and we do not rank methods within an arm</a:t>
            </a:r>
            <a:endParaRPr lang="en-US" sz="1400" dirty="0"/>
          </a:p>
          <a:p>
            <a:pPr marL="177800" indent="-177800">
              <a:spcAft>
                <a:spcPts val="700"/>
              </a:spcAft>
              <a:buSzPct val="100000"/>
              <a:buChar char="•"/>
            </a:pPr>
            <a:r>
              <a:rPr lang="en-US" sz="1400" dirty="0">
                <a:solidFill>
                  <a:srgbClr val="1F2933"/>
                </a:solidFill>
              </a:rPr>
              <a:t>One time point per patient; the natural next step is a longitudinal disease-progression model with these measures as covariates</a:t>
            </a:r>
            <a:endParaRPr lang="en-US" sz="1400" dirty="0"/>
          </a:p>
          <a:p>
            <a:pPr marL="177800" indent="-177800">
              <a:spcAft>
                <a:spcPts val="700"/>
              </a:spcAft>
              <a:buSzPct val="100000"/>
              <a:buChar char="•"/>
            </a:pPr>
            <a:r>
              <a:rPr lang="en-US" sz="1400" dirty="0">
                <a:solidFill>
                  <a:srgbClr val="1F2933"/>
                </a:solidFill>
              </a:rPr>
              <a:t>Simulated data: real DM1 would add repeat interruptions, somatic expansion rate, splicing biomarkers and drug exposure</a:t>
            </a:r>
            <a:endParaRPr lang="en-US" sz="1400" dirty="0"/>
          </a:p>
        </p:txBody>
      </p:sp>
      <p:sp>
        <p:nvSpPr>
          <p:cNvPr id="5" name="Text 3"/>
          <p:cNvSpPr txBox="1"/>
          <p:nvPr/>
        </p:nvSpPr>
        <p:spPr>
          <a:xfrm>
            <a:off x="6492240" y="1463040"/>
            <a:ext cx="5120640" cy="347472"/>
          </a:xfrm>
          <a:prstGeom prst="rect">
            <a:avLst/>
          </a:prstGeom>
          <a:noFill/>
          <a:ln/>
        </p:spPr>
        <p:txBody>
          <a:bodyPr wrap="square" lIns="0" tIns="0" rIns="0" bIns="0" rtlCol="0" anchor="ctr"/>
          <a:lstStyle/>
          <a:p>
            <a:pPr marL="0" indent="0">
              <a:buNone/>
            </a:pPr>
            <a:r>
              <a:rPr lang="en-US" sz="1600" b="1" dirty="0">
                <a:solidFill>
                  <a:srgbClr val="000000"/>
                </a:solidFill>
              </a:rPr>
              <a:t>AI use, disclosed</a:t>
            </a:r>
            <a:endParaRPr lang="en-US" sz="1600" dirty="0"/>
          </a:p>
        </p:txBody>
      </p:sp>
      <p:sp>
        <p:nvSpPr>
          <p:cNvPr id="6" name="Shape 4"/>
          <p:cNvSpPr/>
          <p:nvPr/>
        </p:nvSpPr>
        <p:spPr>
          <a:xfrm>
            <a:off x="6492240" y="1874520"/>
            <a:ext cx="5120640" cy="1737360"/>
          </a:xfrm>
          <a:prstGeom prst="roundRect">
            <a:avLst>
              <a:gd name="adj" fmla="val 4211"/>
            </a:avLst>
          </a:prstGeom>
          <a:solidFill>
            <a:srgbClr val="F2F2F2"/>
          </a:solidFill>
          <a:ln w="12700">
            <a:solidFill>
              <a:srgbClr val="F2F2F2"/>
            </a:solidFill>
            <a:prstDash val="solid"/>
          </a:ln>
        </p:spPr>
        <p:txBody>
          <a:bodyPr/>
          <a:lstStyle/>
          <a:p>
            <a:endParaRPr lang="en-US"/>
          </a:p>
        </p:txBody>
      </p:sp>
      <p:sp>
        <p:nvSpPr>
          <p:cNvPr id="7" name="Text 5"/>
          <p:cNvSpPr txBox="1"/>
          <p:nvPr/>
        </p:nvSpPr>
        <p:spPr>
          <a:xfrm>
            <a:off x="6720840" y="1965960"/>
            <a:ext cx="4663440" cy="1554480"/>
          </a:xfrm>
          <a:prstGeom prst="rect">
            <a:avLst/>
          </a:prstGeom>
          <a:noFill/>
          <a:ln/>
        </p:spPr>
        <p:txBody>
          <a:bodyPr wrap="square" lIns="0" tIns="0" rIns="0" bIns="0" rtlCol="0" anchor="ctr"/>
          <a:lstStyle/>
          <a:p>
            <a:pPr marL="0" indent="0">
              <a:buNone/>
            </a:pPr>
            <a:r>
              <a:rPr lang="en-US" sz="1350" dirty="0">
                <a:solidFill>
                  <a:srgbClr val="1F2933"/>
                </a:solidFill>
              </a:rPr>
              <a:t>Claude (via Claude Code) and Codex drafted code, documentation and slides, as noted in the code headers. Every analysis decision and interpretation was reviewed by the team, which is accountable for the results.</a:t>
            </a:r>
            <a:endParaRPr lang="en-US" sz="1350" dirty="0"/>
          </a:p>
        </p:txBody>
      </p:sp>
      <p:sp>
        <p:nvSpPr>
          <p:cNvPr id="8" name="Text 6"/>
          <p:cNvSpPr txBox="1"/>
          <p:nvPr/>
        </p:nvSpPr>
        <p:spPr>
          <a:xfrm>
            <a:off x="6492240" y="3886200"/>
            <a:ext cx="5120640" cy="347472"/>
          </a:xfrm>
          <a:prstGeom prst="rect">
            <a:avLst/>
          </a:prstGeom>
          <a:noFill/>
          <a:ln/>
        </p:spPr>
        <p:txBody>
          <a:bodyPr wrap="square" lIns="0" tIns="0" rIns="0" bIns="0" rtlCol="0" anchor="ctr"/>
          <a:lstStyle/>
          <a:p>
            <a:pPr marL="0" indent="0">
              <a:buNone/>
            </a:pPr>
            <a:r>
              <a:rPr lang="en-US" sz="1600" b="1" dirty="0">
                <a:solidFill>
                  <a:srgbClr val="000000"/>
                </a:solidFill>
              </a:rPr>
              <a:t>Everything is open</a:t>
            </a:r>
            <a:endParaRPr lang="en-US" sz="1600" dirty="0"/>
          </a:p>
        </p:txBody>
      </p:sp>
      <p:sp>
        <p:nvSpPr>
          <p:cNvPr id="9" name="Text 7"/>
          <p:cNvSpPr txBox="1"/>
          <p:nvPr/>
        </p:nvSpPr>
        <p:spPr>
          <a:xfrm>
            <a:off x="6492240" y="4279392"/>
            <a:ext cx="5120640" cy="14630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Code, decision log, four team pipelines, this deck and the full report: github.com/euibeom135-cell/acop2026-hackathon-team1</a:t>
            </a:r>
            <a:endParaRPr lang="en-US" sz="1400" dirty="0"/>
          </a:p>
          <a:p>
            <a:pPr marL="177800" indent="-177800">
              <a:spcAft>
                <a:spcPts val="700"/>
              </a:spcAft>
              <a:buSzPct val="100000"/>
              <a:buChar char="•"/>
            </a:pPr>
            <a:r>
              <a:rPr lang="en-US" sz="1350" dirty="0">
                <a:solidFill>
                  <a:srgbClr val="1F2933"/>
                </a:solidFill>
              </a:rPr>
              <a:t>Every number on these slides traces to a results file in that repository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Backup: the split moves the scores, not the covariates (20 different train/test splits)</a:t>
            </a:r>
            <a:endParaRPr lang="en-US" sz="2600" dirty="0"/>
          </a:p>
        </p:txBody>
      </p:sp>
      <p:pic>
        <p:nvPicPr>
          <p:cNvPr id="3" name="Image 0" descr="/Users/euibeoms/Desktop/ACoP/hackathon/slides/figs/fig_sensitivity_splits.png"/>
          <p:cNvPicPr>
            <a:picLocks noChangeAspect="1"/>
          </p:cNvPicPr>
          <p:nvPr/>
        </p:nvPicPr>
        <p:blipFill>
          <a:blip r:embed="rId3"/>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250" dirty="0">
                <a:solidFill>
                  <a:srgbClr val="5B6B7A"/>
                </a:solidFill>
              </a:rPr>
              <a:t>Test-set R², continuous outcome, 20 random splits. Mexiletine: all methods tie. Oligonucleotide: all weak. Tideglusib: a tree model ranked first in 19 of 20 splits; a straight-line model never did.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Backup: covariate models and machine learning on the same test-set patients</a:t>
            </a:r>
            <a:endParaRPr lang="en-US" sz="2600" dirty="0"/>
          </a:p>
        </p:txBody>
      </p:sp>
      <p:pic>
        <p:nvPicPr>
          <p:cNvPr id="3" name="Image 0" descr="/Users/euibeoms/Desktop/ACoP/hackathon/slides/figs/fig_scoreboard.png"/>
          <p:cNvPicPr>
            <a:picLocks noChangeAspect="1"/>
          </p:cNvPicPr>
          <p:nvPr/>
        </p:nvPicPr>
        <p:blipFill>
          <a:blip r:embed="rId3"/>
          <a:stretch>
            <a:fillRect/>
          </a:stretch>
        </p:blipFill>
        <p:spPr>
          <a:xfrm>
            <a:off x="548640" y="1371600"/>
            <a:ext cx="11064240" cy="4023360"/>
          </a:xfrm>
          <a:prstGeom prst="rect">
            <a:avLst/>
          </a:prstGeom>
        </p:spPr>
      </p:pic>
      <p:sp>
        <p:nvSpPr>
          <p:cNvPr id="4" name="Text 1"/>
          <p:cNvSpPr txBox="1"/>
          <p:nvPr/>
        </p:nvSpPr>
        <p:spPr>
          <a:xfrm>
            <a:off x="548640" y="5486400"/>
            <a:ext cx="11064240" cy="457200"/>
          </a:xfrm>
          <a:prstGeom prst="rect">
            <a:avLst/>
          </a:prstGeom>
          <a:noFill/>
          <a:ln/>
        </p:spPr>
        <p:txBody>
          <a:bodyPr wrap="square" lIns="0" tIns="0" rIns="0" bIns="0" rtlCol="0" anchor="t"/>
          <a:lstStyle/>
          <a:p>
            <a:pPr marL="0" indent="0">
              <a:buNone/>
            </a:pPr>
            <a:r>
              <a:rPr lang="en-US" sz="1250" dirty="0">
                <a:solidFill>
                  <a:srgbClr val="5B6B7A"/>
                </a:solidFill>
              </a:rPr>
              <a:t>Blue = covariate models, orange = machine learning; test-set R² for the continuous outcome, one locked split. Intervals (about ±0.2) overlap within each arm.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Backup: which method selected which covariate</a:t>
            </a:r>
            <a:endParaRPr lang="en-US" sz="2600" dirty="0"/>
          </a:p>
        </p:txBody>
      </p:sp>
      <p:pic>
        <p:nvPicPr>
          <p:cNvPr id="3" name="Image 0" descr="/Users/euibeoms/Desktop/ACoP/hackathon/slides/figs/fig_covariate_matrix.png"/>
          <p:cNvPicPr>
            <a:picLocks noChangeAspect="1"/>
          </p:cNvPicPr>
          <p:nvPr/>
        </p:nvPicPr>
        <p:blipFill>
          <a:blip r:embed="rId3"/>
          <a:stretch>
            <a:fillRect/>
          </a:stretch>
        </p:blipFill>
        <p:spPr>
          <a:xfrm>
            <a:off x="1097280" y="1325880"/>
            <a:ext cx="9966960" cy="4572000"/>
          </a:xfrm>
          <a:prstGeom prst="rect">
            <a:avLst/>
          </a:prstGeom>
        </p:spPr>
      </p:pic>
      <p:sp>
        <p:nvSpPr>
          <p:cNvPr id="4" name="Text 1"/>
          <p:cNvSpPr txBox="1"/>
          <p:nvPr/>
        </p:nvSpPr>
        <p:spPr>
          <a:xfrm>
            <a:off x="548640" y="5943600"/>
            <a:ext cx="11064240" cy="457200"/>
          </a:xfrm>
          <a:prstGeom prst="rect">
            <a:avLst/>
          </a:prstGeom>
          <a:noFill/>
          <a:ln/>
        </p:spPr>
        <p:txBody>
          <a:bodyPr wrap="square" lIns="0" tIns="0" rIns="0" bIns="0" rtlCol="0" anchor="t"/>
          <a:lstStyle/>
          <a:p>
            <a:pPr marL="0" indent="0">
              <a:buNone/>
            </a:pPr>
            <a:r>
              <a:rPr lang="en-US" sz="1250" dirty="0">
                <a:solidFill>
                  <a:srgbClr val="5B6B7A"/>
                </a:solidFill>
              </a:rPr>
              <a:t>Filled dot = selected. A covariate is called signal with 4 of 5 methods and LASSO bootstrap stability of 60% or more. The random column (bottom row) was never selected. Secondary candidate in two of four pipelines: disease duration (longer duration, less response).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Backup: the key measure holds within each onset type; an exploratory which-drug-for-whom view</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457200">
                <a:tc>
                  <a:txBody>
                    <a:bodyPr/>
                    <a:lstStyle/>
                    <a:p>
                      <a:pPr marL="0" indent="0">
                        <a:buNone/>
                      </a:pPr>
                      <a:r>
                        <a:rPr lang="en-US" sz="1250" b="1" dirty="0">
                          <a:solidFill>
                            <a:srgbClr val="000000"/>
                          </a:solidFill>
                        </a:rPr>
                        <a:t>Arm, measure (slope per unit)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Adult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Juvenile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Late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Interaction p</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48640">
                <a:tc>
                  <a:txBody>
                    <a:bodyPr/>
                    <a:lstStyle/>
                    <a:p>
                      <a:pPr marL="0" indent="0">
                        <a:buNone/>
                      </a:pPr>
                      <a:r>
                        <a:rPr lang="en-US" sz="1250" dirty="0">
                          <a:solidFill>
                            <a:srgbClr val="1F2933"/>
                          </a:solidFill>
                        </a:rPr>
                        <a:t>Mexiletine, myotonia severity</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-0.51 (n 71)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-0.66 (n 28)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-0.25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0.03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250" dirty="0">
                          <a:solidFill>
                            <a:srgbClr val="1F2933"/>
                          </a:solidFill>
                        </a:rPr>
                        <a:t>Oligonucleotide, CTG repeats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0.005 (n 78)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0.006 (n 23)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0.014 (n 26)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0.50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250" dirty="0">
                          <a:solidFill>
                            <a:srgbClr val="1F2933"/>
                          </a:solidFill>
                        </a:rPr>
                        <a:t>Tideglusib,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-3.1 (n 83)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-4.4 (n 24)</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-1.3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0.16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3840480"/>
            <a:ext cx="11064240" cy="347472"/>
          </a:xfrm>
          <a:prstGeom prst="rect">
            <a:avLst/>
          </a:prstGeom>
          <a:noFill/>
          <a:ln/>
        </p:spPr>
        <p:txBody>
          <a:bodyPr wrap="square" lIns="0" tIns="0" rIns="0" bIns="0" rtlCol="0" anchor="ctr"/>
          <a:lstStyle/>
          <a:p>
            <a:pPr marL="0" indent="0">
              <a:buNone/>
            </a:pPr>
            <a:r>
              <a:rPr lang="en-US" sz="1600" b="1" dirty="0">
                <a:solidFill>
                  <a:srgbClr val="000000"/>
                </a:solidFill>
              </a:rPr>
              <a:t>Which drug for whom (exploratory, training patients)</a:t>
            </a:r>
            <a:endParaRPr lang="en-US" sz="1600" dirty="0"/>
          </a:p>
        </p:txBody>
      </p:sp>
      <p:sp>
        <p:nvSpPr>
          <p:cNvPr id="5" name="Text 2"/>
          <p:cNvSpPr txBox="1"/>
          <p:nvPr/>
        </p:nvSpPr>
        <p:spPr>
          <a:xfrm>
            <a:off x="548640" y="4224528"/>
            <a:ext cx="11064240" cy="201168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Each arm's responder model applied to every training patient, relative to that arm's average patient</a:t>
            </a:r>
            <a:endParaRPr lang="en-US" sz="1400" dirty="0"/>
          </a:p>
          <a:p>
            <a:pPr marL="177800" indent="-177800">
              <a:spcAft>
                <a:spcPts val="700"/>
              </a:spcAft>
              <a:buSzPct val="100000"/>
              <a:buChar char="•"/>
            </a:pPr>
            <a:r>
              <a:rPr lang="en-US" sz="1350" dirty="0">
                <a:solidFill>
                  <a:srgbClr val="1F2933"/>
                </a:solidFill>
              </a:rPr>
              <a:t>Highest relative likelihood: mexiletine for 12% (severe myotonia), tideglusib for 35% (impaired cognition), the oligonucleotide for the rest</a:t>
            </a:r>
            <a:endParaRPr lang="en-US" sz="1400" dirty="0"/>
          </a:p>
          <a:p>
            <a:pPr marL="177800" indent="-177800">
              <a:spcAft>
                <a:spcPts val="700"/>
              </a:spcAft>
              <a:buSzPct val="100000"/>
              <a:buChar char="•"/>
            </a:pPr>
            <a:r>
              <a:rPr lang="en-US" sz="1350" dirty="0">
                <a:solidFill>
                  <a:srgbClr val="1F2933"/>
                </a:solidFill>
              </a:rPr>
              <a:t>Hypothesis-generating only: an extrapolation across arms; no outcome information crosses arms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Backup: mechanism of action explains why each arm selects a different covariate</a:t>
            </a:r>
            <a:endParaRPr lang="en-US" sz="2600" dirty="0"/>
          </a:p>
        </p:txBody>
      </p:sp>
      <p:sp>
        <p:nvSpPr>
          <p:cNvPr id="3" name="Shape 1"/>
          <p:cNvSpPr/>
          <p:nvPr/>
        </p:nvSpPr>
        <p:spPr>
          <a:xfrm>
            <a:off x="548640" y="1417320"/>
            <a:ext cx="3566160" cy="4206240"/>
          </a:xfrm>
          <a:prstGeom prst="roundRect">
            <a:avLst>
              <a:gd name="adj" fmla="val 2051"/>
            </a:avLst>
          </a:prstGeom>
          <a:solidFill>
            <a:srgbClr val="F2F2F2"/>
          </a:solidFill>
          <a:ln w="12700">
            <a:solidFill>
              <a:srgbClr val="F2F2F2"/>
            </a:solidFill>
            <a:prstDash val="solid"/>
          </a:ln>
        </p:spPr>
        <p:txBody>
          <a:bodyPr/>
          <a:lstStyle/>
          <a:p>
            <a:endParaRPr lang="en-US"/>
          </a:p>
        </p:txBody>
      </p:sp>
      <p:sp>
        <p:nvSpPr>
          <p:cNvPr id="4" name="Text 2"/>
          <p:cNvSpPr txBox="1"/>
          <p:nvPr/>
        </p:nvSpPr>
        <p:spPr>
          <a:xfrm>
            <a:off x="731520" y="1508760"/>
            <a:ext cx="3200400" cy="365760"/>
          </a:xfrm>
          <a:prstGeom prst="rect">
            <a:avLst/>
          </a:prstGeom>
          <a:noFill/>
          <a:ln/>
        </p:spPr>
        <p:txBody>
          <a:bodyPr wrap="square" lIns="0" tIns="0" rIns="0" bIns="0" rtlCol="0" anchor="ctr"/>
          <a:lstStyle/>
          <a:p>
            <a:pPr marL="0" indent="0">
              <a:buNone/>
            </a:pPr>
            <a:r>
              <a:rPr lang="en-US" sz="1600" b="1" dirty="0">
                <a:solidFill>
                  <a:srgbClr val="000000"/>
                </a:solidFill>
              </a:rPr>
              <a:t>Mexiletine</a:t>
            </a:r>
            <a:endParaRPr lang="en-US" sz="1600" dirty="0"/>
          </a:p>
        </p:txBody>
      </p:sp>
      <p:sp>
        <p:nvSpPr>
          <p:cNvPr id="5" name="Text 3"/>
          <p:cNvSpPr txBox="1"/>
          <p:nvPr/>
        </p:nvSpPr>
        <p:spPr>
          <a:xfrm>
            <a:off x="731520" y="1856232"/>
            <a:ext cx="3200400" cy="274320"/>
          </a:xfrm>
          <a:prstGeom prst="rect">
            <a:avLst/>
          </a:prstGeom>
          <a:noFill/>
          <a:ln/>
        </p:spPr>
        <p:txBody>
          <a:bodyPr wrap="square" lIns="0" tIns="0" rIns="0" bIns="0" rtlCol="0" anchor="ctr"/>
          <a:lstStyle/>
          <a:p>
            <a:pPr marL="0" indent="0">
              <a:buNone/>
            </a:pPr>
            <a:r>
              <a:rPr lang="en-US" sz="1250" b="1" dirty="0">
                <a:solidFill>
                  <a:srgbClr val="D95F0E"/>
                </a:solidFill>
              </a:rPr>
              <a:t>Symptom-level therapy</a:t>
            </a:r>
            <a:endParaRPr lang="en-US" sz="1250" dirty="0"/>
          </a:p>
        </p:txBody>
      </p:sp>
      <p:sp>
        <p:nvSpPr>
          <p:cNvPr id="6" name="Text 4"/>
          <p:cNvSpPr txBox="1"/>
          <p:nvPr/>
        </p:nvSpPr>
        <p:spPr>
          <a:xfrm>
            <a:off x="731520" y="2194560"/>
            <a:ext cx="3200400" cy="822960"/>
          </a:xfrm>
          <a:prstGeom prst="rect">
            <a:avLst/>
          </a:prstGeom>
          <a:noFill/>
          <a:ln/>
        </p:spPr>
        <p:txBody>
          <a:bodyPr wrap="square" lIns="0" tIns="0" rIns="0" bIns="0" rtlCol="0" anchor="t"/>
          <a:lstStyle/>
          <a:p>
            <a:pPr marL="0" indent="0">
              <a:buNone/>
            </a:pPr>
            <a:r>
              <a:rPr lang="en-US" sz="1250" dirty="0">
                <a:solidFill>
                  <a:srgbClr val="1F2933"/>
                </a:solidFill>
              </a:rPr>
              <a:t>Sodium-channel blockade; endpoint is myotonia change at week 12</a:t>
            </a:r>
            <a:endParaRPr lang="en-US" sz="1250" dirty="0"/>
          </a:p>
        </p:txBody>
      </p:sp>
      <p:sp>
        <p:nvSpPr>
          <p:cNvPr id="7" name="Text 5"/>
          <p:cNvSpPr txBox="1"/>
          <p:nvPr/>
        </p:nvSpPr>
        <p:spPr>
          <a:xfrm>
            <a:off x="731520" y="3063240"/>
            <a:ext cx="3200400" cy="274320"/>
          </a:xfrm>
          <a:prstGeom prst="rect">
            <a:avLst/>
          </a:prstGeom>
          <a:noFill/>
          <a:ln/>
        </p:spPr>
        <p:txBody>
          <a:bodyPr wrap="square" lIns="0" tIns="0" rIns="0" bIns="0" rtlCol="0" anchor="ctr"/>
          <a:lstStyle/>
          <a:p>
            <a:pPr marL="0" indent="0">
              <a:buNone/>
            </a:pPr>
            <a:r>
              <a:rPr lang="en-US" sz="1250" b="1" dirty="0">
                <a:solidFill>
                  <a:srgbClr val="000000"/>
                </a:solidFill>
              </a:rPr>
              <a:t>Covariate that predicts response</a:t>
            </a:r>
            <a:endParaRPr lang="en-US" sz="1250" dirty="0"/>
          </a:p>
        </p:txBody>
      </p:sp>
      <p:sp>
        <p:nvSpPr>
          <p:cNvPr id="8" name="Text 6"/>
          <p:cNvSpPr txBox="1"/>
          <p:nvPr/>
        </p:nvSpPr>
        <p:spPr>
          <a:xfrm>
            <a:off x="731520" y="3364992"/>
            <a:ext cx="3200400" cy="2194560"/>
          </a:xfrm>
          <a:prstGeom prst="rect">
            <a:avLst/>
          </a:prstGeom>
          <a:noFill/>
          <a:ln/>
        </p:spPr>
        <p:txBody>
          <a:bodyPr wrap="square" lIns="0" tIns="0" rIns="0" bIns="0" rtlCol="0" anchor="t"/>
          <a:lstStyle/>
          <a:p>
            <a:pPr marL="0" indent="0">
              <a:buNone/>
            </a:pPr>
            <a:r>
              <a:rPr lang="en-US" sz="1250" dirty="0">
                <a:solidFill>
                  <a:srgbClr val="1F2933"/>
                </a:solidFill>
              </a:rPr>
              <a:t>Baseline myotonia severity, the drug's direct symptom target. CTG repeats carry the same information (r 0.88): an upstream proxy, not a second predictor. Caveat: on absolute change part of this is room to improve; on relative change the axis still predicts, modestly.</a:t>
            </a:r>
            <a:endParaRPr lang="en-US" sz="1250" dirty="0"/>
          </a:p>
        </p:txBody>
      </p:sp>
      <p:sp>
        <p:nvSpPr>
          <p:cNvPr id="9" name="Shape 7"/>
          <p:cNvSpPr/>
          <p:nvPr/>
        </p:nvSpPr>
        <p:spPr>
          <a:xfrm>
            <a:off x="4297680" y="1417320"/>
            <a:ext cx="3566160" cy="4206240"/>
          </a:xfrm>
          <a:prstGeom prst="roundRect">
            <a:avLst>
              <a:gd name="adj" fmla="val 2051"/>
            </a:avLst>
          </a:prstGeom>
          <a:solidFill>
            <a:srgbClr val="F2F2F2"/>
          </a:solidFill>
          <a:ln w="12700">
            <a:solidFill>
              <a:srgbClr val="F2F2F2"/>
            </a:solidFill>
            <a:prstDash val="solid"/>
          </a:ln>
        </p:spPr>
        <p:txBody>
          <a:bodyPr/>
          <a:lstStyle/>
          <a:p>
            <a:endParaRPr lang="en-US"/>
          </a:p>
        </p:txBody>
      </p:sp>
      <p:sp>
        <p:nvSpPr>
          <p:cNvPr id="10" name="Text 8"/>
          <p:cNvSpPr txBox="1"/>
          <p:nvPr/>
        </p:nvSpPr>
        <p:spPr>
          <a:xfrm>
            <a:off x="4480560" y="1508760"/>
            <a:ext cx="3200400" cy="365760"/>
          </a:xfrm>
          <a:prstGeom prst="rect">
            <a:avLst/>
          </a:prstGeom>
          <a:noFill/>
          <a:ln/>
        </p:spPr>
        <p:txBody>
          <a:bodyPr wrap="square" lIns="0" tIns="0" rIns="0" bIns="0" rtlCol="0" anchor="ctr"/>
          <a:lstStyle/>
          <a:p>
            <a:pPr marL="0" indent="0">
              <a:buNone/>
            </a:pPr>
            <a:r>
              <a:rPr lang="en-US" sz="1600" b="1" dirty="0">
                <a:solidFill>
                  <a:srgbClr val="000000"/>
                </a:solidFill>
              </a:rPr>
              <a:t>Antisense oligonucleotide</a:t>
            </a:r>
            <a:endParaRPr lang="en-US" sz="1600" dirty="0"/>
          </a:p>
        </p:txBody>
      </p:sp>
      <p:sp>
        <p:nvSpPr>
          <p:cNvPr id="11" name="Text 9"/>
          <p:cNvSpPr txBox="1"/>
          <p:nvPr/>
        </p:nvSpPr>
        <p:spPr>
          <a:xfrm>
            <a:off x="4480560" y="1856232"/>
            <a:ext cx="3200400" cy="274320"/>
          </a:xfrm>
          <a:prstGeom prst="rect">
            <a:avLst/>
          </a:prstGeom>
          <a:noFill/>
          <a:ln/>
        </p:spPr>
        <p:txBody>
          <a:bodyPr wrap="square" lIns="0" tIns="0" rIns="0" bIns="0" rtlCol="0" anchor="ctr"/>
          <a:lstStyle/>
          <a:p>
            <a:pPr marL="0" indent="0">
              <a:buNone/>
            </a:pPr>
            <a:r>
              <a:rPr lang="en-US" sz="1250" b="1" dirty="0">
                <a:solidFill>
                  <a:srgbClr val="D95F0E"/>
                </a:solidFill>
              </a:rPr>
              <a:t>Molecular therapy</a:t>
            </a:r>
            <a:endParaRPr lang="en-US" sz="1250" dirty="0"/>
          </a:p>
        </p:txBody>
      </p:sp>
      <p:sp>
        <p:nvSpPr>
          <p:cNvPr id="12" name="Text 10"/>
          <p:cNvSpPr txBox="1"/>
          <p:nvPr/>
        </p:nvSpPr>
        <p:spPr>
          <a:xfrm>
            <a:off x="4480560" y="2194560"/>
            <a:ext cx="3200400" cy="822960"/>
          </a:xfrm>
          <a:prstGeom prst="rect">
            <a:avLst/>
          </a:prstGeom>
          <a:noFill/>
          <a:ln/>
        </p:spPr>
        <p:txBody>
          <a:bodyPr wrap="square" lIns="0" tIns="0" rIns="0" bIns="0" rtlCol="0" anchor="t"/>
          <a:lstStyle/>
          <a:p>
            <a:pPr marL="0" indent="0">
              <a:buNone/>
            </a:pPr>
            <a:r>
              <a:rPr lang="en-US" sz="1250" dirty="0">
                <a:solidFill>
                  <a:srgbClr val="1F2933"/>
                </a:solidFill>
              </a:rPr>
              <a:t>Degrades the toxic DMPK RNA; endpoint is QMT strength gain at week 26</a:t>
            </a:r>
            <a:endParaRPr lang="en-US" sz="1250" dirty="0"/>
          </a:p>
        </p:txBody>
      </p:sp>
      <p:sp>
        <p:nvSpPr>
          <p:cNvPr id="13" name="Text 11"/>
          <p:cNvSpPr txBox="1"/>
          <p:nvPr/>
        </p:nvSpPr>
        <p:spPr>
          <a:xfrm>
            <a:off x="4480560" y="3063240"/>
            <a:ext cx="3200400" cy="274320"/>
          </a:xfrm>
          <a:prstGeom prst="rect">
            <a:avLst/>
          </a:prstGeom>
          <a:noFill/>
          <a:ln/>
        </p:spPr>
        <p:txBody>
          <a:bodyPr wrap="square" lIns="0" tIns="0" rIns="0" bIns="0" rtlCol="0" anchor="ctr"/>
          <a:lstStyle/>
          <a:p>
            <a:pPr marL="0" indent="0">
              <a:buNone/>
            </a:pPr>
            <a:r>
              <a:rPr lang="en-US" sz="1250" b="1" dirty="0">
                <a:solidFill>
                  <a:srgbClr val="000000"/>
                </a:solidFill>
              </a:rPr>
              <a:t>Covariate that predicts response</a:t>
            </a:r>
            <a:endParaRPr lang="en-US" sz="1250" dirty="0"/>
          </a:p>
        </p:txBody>
      </p:sp>
      <p:sp>
        <p:nvSpPr>
          <p:cNvPr id="14" name="Text 12"/>
          <p:cNvSpPr txBox="1"/>
          <p:nvPr/>
        </p:nvSpPr>
        <p:spPr>
          <a:xfrm>
            <a:off x="4480560" y="3364992"/>
            <a:ext cx="3200400" cy="2194560"/>
          </a:xfrm>
          <a:prstGeom prst="rect">
            <a:avLst/>
          </a:prstGeom>
          <a:noFill/>
          <a:ln/>
        </p:spPr>
        <p:txBody>
          <a:bodyPr wrap="square" lIns="0" tIns="0" rIns="0" bIns="0" rtlCol="0" anchor="t"/>
          <a:lstStyle/>
          <a:p>
            <a:pPr marL="0" indent="0">
              <a:buNone/>
            </a:pPr>
            <a:r>
              <a:rPr lang="en-US" sz="1250" dirty="0">
                <a:solidFill>
                  <a:srgbClr val="1F2933"/>
                </a:solidFill>
              </a:rPr>
              <a:t>CTG repeat length, the genetic burden the drug must clear. Myotonia and mosaicism share some of that information. Direction is clear; individual magnitude is not predictable.</a:t>
            </a:r>
            <a:endParaRPr lang="en-US" sz="1250" dirty="0"/>
          </a:p>
        </p:txBody>
      </p:sp>
      <p:sp>
        <p:nvSpPr>
          <p:cNvPr id="15" name="Shape 13"/>
          <p:cNvSpPr/>
          <p:nvPr/>
        </p:nvSpPr>
        <p:spPr>
          <a:xfrm>
            <a:off x="8046720" y="1417320"/>
            <a:ext cx="3566160" cy="4206240"/>
          </a:xfrm>
          <a:prstGeom prst="roundRect">
            <a:avLst>
              <a:gd name="adj" fmla="val 2051"/>
            </a:avLst>
          </a:prstGeom>
          <a:solidFill>
            <a:srgbClr val="F2F2F2"/>
          </a:solidFill>
          <a:ln w="12700">
            <a:solidFill>
              <a:srgbClr val="F2F2F2"/>
            </a:solidFill>
            <a:prstDash val="solid"/>
          </a:ln>
        </p:spPr>
        <p:txBody>
          <a:bodyPr/>
          <a:lstStyle/>
          <a:p>
            <a:endParaRPr lang="en-US"/>
          </a:p>
        </p:txBody>
      </p:sp>
      <p:sp>
        <p:nvSpPr>
          <p:cNvPr id="16" name="Text 14"/>
          <p:cNvSpPr txBox="1"/>
          <p:nvPr/>
        </p:nvSpPr>
        <p:spPr>
          <a:xfrm>
            <a:off x="8229600" y="1508760"/>
            <a:ext cx="3200400" cy="365760"/>
          </a:xfrm>
          <a:prstGeom prst="rect">
            <a:avLst/>
          </a:prstGeom>
          <a:noFill/>
          <a:ln/>
        </p:spPr>
        <p:txBody>
          <a:bodyPr wrap="square" lIns="0" tIns="0" rIns="0" bIns="0" rtlCol="0" anchor="ctr"/>
          <a:lstStyle/>
          <a:p>
            <a:pPr marL="0" indent="0">
              <a:buNone/>
            </a:pPr>
            <a:r>
              <a:rPr lang="en-US" sz="1600" b="1" dirty="0">
                <a:solidFill>
                  <a:srgbClr val="000000"/>
                </a:solidFill>
              </a:rPr>
              <a:t>Tideglusib</a:t>
            </a:r>
            <a:endParaRPr lang="en-US" sz="1600" dirty="0"/>
          </a:p>
        </p:txBody>
      </p:sp>
      <p:sp>
        <p:nvSpPr>
          <p:cNvPr id="17" name="Text 15"/>
          <p:cNvSpPr txBox="1"/>
          <p:nvPr/>
        </p:nvSpPr>
        <p:spPr>
          <a:xfrm>
            <a:off x="8229600" y="1856232"/>
            <a:ext cx="3200400" cy="274320"/>
          </a:xfrm>
          <a:prstGeom prst="rect">
            <a:avLst/>
          </a:prstGeom>
          <a:noFill/>
          <a:ln/>
        </p:spPr>
        <p:txBody>
          <a:bodyPr wrap="square" lIns="0" tIns="0" rIns="0" bIns="0" rtlCol="0" anchor="ctr"/>
          <a:lstStyle/>
          <a:p>
            <a:pPr marL="0" indent="0">
              <a:buNone/>
            </a:pPr>
            <a:r>
              <a:rPr lang="en-US" sz="1250" b="1" dirty="0">
                <a:solidFill>
                  <a:srgbClr val="D95F0E"/>
                </a:solidFill>
              </a:rPr>
              <a:t>Multisystem therapy</a:t>
            </a:r>
            <a:endParaRPr lang="en-US" sz="1250" dirty="0"/>
          </a:p>
        </p:txBody>
      </p:sp>
      <p:sp>
        <p:nvSpPr>
          <p:cNvPr id="18" name="Text 16"/>
          <p:cNvSpPr txBox="1"/>
          <p:nvPr/>
        </p:nvSpPr>
        <p:spPr>
          <a:xfrm>
            <a:off x="8229600" y="2194560"/>
            <a:ext cx="3200400" cy="822960"/>
          </a:xfrm>
          <a:prstGeom prst="rect">
            <a:avLst/>
          </a:prstGeom>
          <a:noFill/>
          <a:ln/>
        </p:spPr>
        <p:txBody>
          <a:bodyPr wrap="square" lIns="0" tIns="0" rIns="0" bIns="0" rtlCol="0" anchor="t"/>
          <a:lstStyle/>
          <a:p>
            <a:pPr marL="0" indent="0">
              <a:buNone/>
            </a:pPr>
            <a:r>
              <a:rPr lang="en-US" sz="1250" dirty="0">
                <a:solidFill>
                  <a:srgbClr val="1F2933"/>
                </a:solidFill>
              </a:rPr>
              <a:t>GSK3β inhibition; endpoint is a cognitive-motor composite at week 26</a:t>
            </a:r>
            <a:endParaRPr lang="en-US" sz="1250" dirty="0"/>
          </a:p>
        </p:txBody>
      </p:sp>
      <p:sp>
        <p:nvSpPr>
          <p:cNvPr id="19" name="Text 17"/>
          <p:cNvSpPr txBox="1"/>
          <p:nvPr/>
        </p:nvSpPr>
        <p:spPr>
          <a:xfrm>
            <a:off x="8229600" y="3063240"/>
            <a:ext cx="3200400" cy="274320"/>
          </a:xfrm>
          <a:prstGeom prst="rect">
            <a:avLst/>
          </a:prstGeom>
          <a:noFill/>
          <a:ln/>
        </p:spPr>
        <p:txBody>
          <a:bodyPr wrap="square" lIns="0" tIns="0" rIns="0" bIns="0" rtlCol="0" anchor="ctr"/>
          <a:lstStyle/>
          <a:p>
            <a:pPr marL="0" indent="0">
              <a:buNone/>
            </a:pPr>
            <a:r>
              <a:rPr lang="en-US" sz="1250" b="1" dirty="0">
                <a:solidFill>
                  <a:srgbClr val="000000"/>
                </a:solidFill>
              </a:rPr>
              <a:t>Covariate that predicts response</a:t>
            </a:r>
            <a:endParaRPr lang="en-US" sz="1250" dirty="0"/>
          </a:p>
        </p:txBody>
      </p:sp>
      <p:sp>
        <p:nvSpPr>
          <p:cNvPr id="20" name="Text 18"/>
          <p:cNvSpPr txBox="1"/>
          <p:nvPr/>
        </p:nvSpPr>
        <p:spPr>
          <a:xfrm>
            <a:off x="8229600" y="3364992"/>
            <a:ext cx="3200400" cy="2194560"/>
          </a:xfrm>
          <a:prstGeom prst="rect">
            <a:avLst/>
          </a:prstGeom>
          <a:noFill/>
          <a:ln/>
        </p:spPr>
        <p:txBody>
          <a:bodyPr wrap="square" lIns="0" tIns="0" rIns="0" bIns="0" rtlCol="0" anchor="t"/>
          <a:lstStyle/>
          <a:p>
            <a:pPr marL="0" indent="0">
              <a:buNone/>
            </a:pPr>
            <a:r>
              <a:rPr lang="en-US" sz="1250" dirty="0">
                <a:solidFill>
                  <a:srgbClr val="1F2933"/>
                </a:solidFill>
              </a:rPr>
              <a:t>Baseline cognitive function, as a threshold near z = -0.5. Only modestly correlated with CTG and myotonia (about 0.3), so it is a distinct clinical axis; the cognitive part of the endpoint contributes.</a:t>
            </a:r>
            <a:endParaRPr lang="en-US" sz="1250" dirty="0"/>
          </a:p>
        </p:txBody>
      </p:sp>
      <p:sp>
        <p:nvSpPr>
          <p:cNvPr id="21" name="Text 19"/>
          <p:cNvSpPr txBox="1"/>
          <p:nvPr/>
        </p:nvSpPr>
        <p:spPr>
          <a:xfrm>
            <a:off x="548640" y="5760720"/>
            <a:ext cx="11064240" cy="548640"/>
          </a:xfrm>
          <a:prstGeom prst="rect">
            <a:avLst/>
          </a:prstGeom>
          <a:noFill/>
          <a:ln/>
        </p:spPr>
        <p:txBody>
          <a:bodyPr wrap="square" lIns="0" tIns="0" rIns="0" bIns="0" rtlCol="0" anchor="t"/>
          <a:lstStyle/>
          <a:p>
            <a:pPr marL="0" indent="0">
              <a:buNone/>
            </a:pPr>
            <a:r>
              <a:rPr lang="en-US" sz="1250" dirty="0">
                <a:solidFill>
                  <a:srgbClr val="5B6B7A"/>
                </a:solidFill>
              </a:rPr>
              <a:t>Takeaway: the strongest covariate depends on both the drug's mechanism of action and the endpoint being measured. Prepared with Bei Zhao's clinical-pharmacology summary; correlations in Bei's screen: myotonia +0.83 (absolute change), CTG +0.42, cognition -0.65.</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Backup: four independent pipelines, one answer</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57200">
                <a:tc>
                  <a:txBody>
                    <a:bodyPr/>
                    <a:lstStyle/>
                    <a:p>
                      <a:pPr marL="0" indent="0">
                        <a:buNone/>
                      </a:pPr>
                      <a:r>
                        <a:rPr lang="en-US" sz="1250" b="1" dirty="0">
                          <a:solidFill>
                            <a:srgbClr val="000000"/>
                          </a:solidFill>
                        </a:rPr>
                        <a:t>Who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Code and split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Methods and checks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250" b="1" dirty="0">
                          <a:solidFill>
                            <a:srgbClr val="000000"/>
                          </a:solidFill>
                        </a:rPr>
                        <a:t>Lead covariate: mexiletine / oligonucleotide / tideglusib</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777240">
                <a:tc>
                  <a:txBody>
                    <a:bodyPr/>
                    <a:lstStyle/>
                    <a:p>
                      <a:pPr marL="0" indent="0">
                        <a:buNone/>
                      </a:pPr>
                      <a:r>
                        <a:rPr lang="en-US" sz="1250" b="1" dirty="0">
                          <a:solidFill>
                            <a:srgbClr val="1F2933"/>
                          </a:solidFill>
                        </a:rPr>
                        <a:t>Euibeom Shin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R; 75/25 stratified by response and onset, seed 20261011; 20-seed sensitivity</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Stepwise, LASSO, elastic net, random forest, XGBoost; pure-noise covariate, 200 bootstrap resamples, 5-method vote. Source of every number on the talk slides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250" b="1" dirty="0">
                          <a:solidFill>
                            <a:srgbClr val="1F2933"/>
                          </a:solidFill>
                        </a:rPr>
                        <a:t>Wenzhe Ma</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Python + R; 80/20 (seed 42) and 20 re-randomised splits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30 methods, single pre-stated signal rule, variance diagnostic that set the mexiletine scale, three-pipeline comparison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250" b="1" dirty="0">
                          <a:solidFill>
                            <a:srgbClr val="1F2933"/>
                          </a:solidFill>
                        </a:rPr>
                        <a:t>Ming Gao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Python; locked fold on Bei's split, rehearsal on a pseudo-test; 20 seeds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14 methods, pre-registered hypothesis sheet, stability selection plus shuffled-outcome null, partial dependence, enrichment rules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Myotonia (suggestive on relative change)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250" b="1" dirty="0">
                          <a:solidFill>
                            <a:srgbClr val="1F2933"/>
                          </a:solidFill>
                        </a:rPr>
                        <a:t>Leo Vuong, Bei Zhao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R (Leo); Python correlation screen on an 80/20 split (Bei)</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Six covariate and ML methods (Leo); marginal associations with bootstrap intervals and FDR, covariate dictionary (Bei)</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4" name="Text 1"/>
          <p:cNvSpPr txBox="1"/>
          <p:nvPr/>
        </p:nvSpPr>
        <p:spPr>
          <a:xfrm>
            <a:off x="548640" y="5486400"/>
            <a:ext cx="11064240" cy="640080"/>
          </a:xfrm>
          <a:prstGeom prst="rect">
            <a:avLst/>
          </a:prstGeom>
          <a:noFill/>
          <a:ln/>
        </p:spPr>
        <p:txBody>
          <a:bodyPr wrap="square" lIns="0" tIns="0" rIns="0" bIns="0" rtlCol="0" anchor="t"/>
          <a:lstStyle/>
          <a:p>
            <a:pPr marL="0" indent="0">
              <a:buNone/>
            </a:pPr>
            <a:r>
              <a:rPr lang="en-US" sz="1250" dirty="0">
                <a:solidFill>
                  <a:srgbClr val="5B6B7A"/>
                </a:solidFill>
              </a:rPr>
              <a:t>Different code, different splits, different method sets: the same three covariates. Izumi Hamada: clinical review and the relative-change check for mexiletine. All pipelines are in the repository under analysis/explorations/.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600" b="1" dirty="0">
                <a:solidFill>
                  <a:srgbClr val="000000"/>
                </a:solidFill>
              </a:rPr>
              <a:t>Backup: references</a:t>
            </a:r>
            <a:endParaRPr lang="en-US" sz="26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marL="0" indent="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marL="0" indent="0">
              <a:spcAft>
                <a:spcPts val="600"/>
              </a:spcAft>
              <a:buNone/>
            </a:pPr>
            <a:r>
              <a:rPr lang="en-US" sz="1300" dirty="0">
                <a:solidFill>
                  <a:srgbClr val="1F2933"/>
                </a:solidFill>
              </a:rPr>
              <a:t>2. Cumming SA et al. Neurology 2019;93:e995-e1009. Genetic determinants of severity, OPTIMISTIC cohort.</a:t>
            </a:r>
            <a:endParaRPr lang="en-US" sz="1300" dirty="0"/>
          </a:p>
          <a:p>
            <a:pPr marL="0" indent="0">
              <a:spcAft>
                <a:spcPts val="600"/>
              </a:spcAft>
              <a:buNone/>
            </a:pPr>
            <a:r>
              <a:rPr lang="en-US" sz="1300" dirty="0">
                <a:solidFill>
                  <a:srgbClr val="1F2933"/>
                </a:solidFill>
              </a:rPr>
              <a:t>3. De Antonio M et al. Rev Neurol (Paris) 2016;172:572-80. DM1 clinical spectrum and onset-based classification.</a:t>
            </a:r>
            <a:endParaRPr lang="en-US" sz="1300" dirty="0"/>
          </a:p>
          <a:p>
            <a:pPr marL="0" indent="0">
              <a:spcAft>
                <a:spcPts val="600"/>
              </a:spcAft>
              <a:buNone/>
            </a:pPr>
            <a:r>
              <a:rPr lang="en-US" sz="1300" dirty="0">
                <a:solidFill>
                  <a:srgbClr val="1F2933"/>
                </a:solidFill>
              </a:rPr>
              <a:t>4. Okkersen K et al. Neurology 2017;89:960-9. Brain imaging in DM1: systematic review.</a:t>
            </a:r>
            <a:endParaRPr lang="en-US" sz="1300" dirty="0"/>
          </a:p>
          <a:p>
            <a:pPr marL="0" indent="0">
              <a:spcAft>
                <a:spcPts val="600"/>
              </a:spcAft>
              <a:buNone/>
            </a:pPr>
            <a:r>
              <a:rPr lang="en-US" sz="1300" dirty="0">
                <a:solidFill>
                  <a:srgbClr val="1F2933"/>
                </a:solidFill>
              </a:rPr>
              <a:t>5. Logigian EL et al. Neurology 2010;74:1441-8. Mexiletine as antimyotonia treatment in DM1.</a:t>
            </a:r>
            <a:endParaRPr lang="en-US" sz="1300" dirty="0"/>
          </a:p>
          <a:p>
            <a:pPr marL="0" indent="0">
              <a:spcAft>
                <a:spcPts val="600"/>
              </a:spcAft>
              <a:buNone/>
            </a:pPr>
            <a:r>
              <a:rPr lang="en-US" sz="1300" dirty="0">
                <a:solidFill>
                  <a:srgbClr val="1F2933"/>
                </a:solidFill>
              </a:rPr>
              <a:t>6. Heatwole C et al. Neurology 2021;96:e228-e240. Mexiletine in DM1: randomized placebo-controlled trial.</a:t>
            </a:r>
            <a:endParaRPr lang="en-US" sz="1300" dirty="0"/>
          </a:p>
          <a:p>
            <a:pPr marL="0" indent="0">
              <a:spcAft>
                <a:spcPts val="600"/>
              </a:spcAft>
              <a:buNone/>
            </a:pPr>
            <a:r>
              <a:rPr lang="en-US" sz="1300" dirty="0">
                <a:solidFill>
                  <a:srgbClr val="1F2933"/>
                </a:solidFill>
              </a:rPr>
              <a:t>7. Thornton CA et al. Lancet Neurol 2023;22:218-28. Antisense oligonucleotide targeting DMPK: phase 1/2a trial.</a:t>
            </a:r>
            <a:endParaRPr lang="en-US" sz="1300" dirty="0"/>
          </a:p>
          <a:p>
            <a:pPr marL="0" indent="0">
              <a:spcAft>
                <a:spcPts val="600"/>
              </a:spcAft>
              <a:buNone/>
            </a:pPr>
            <a:r>
              <a:rPr lang="en-US" sz="1300" dirty="0">
                <a:solidFill>
                  <a:srgbClr val="1F2933"/>
                </a:solidFill>
              </a:rPr>
              <a:t>8. Jones K et al. J Clin Invest 2012;122:4461-72. GSK3β mediates muscle pathology in DM1.</a:t>
            </a:r>
            <a:endParaRPr lang="en-US" sz="1300" dirty="0"/>
          </a:p>
          <a:p>
            <a:pPr marL="0" indent="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marL="0" indent="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4096</Words>
  <Application>Microsoft Macintosh PowerPoint</Application>
  <PresentationFormat>Widescreen</PresentationFormat>
  <Paragraphs>215</Paragraphs>
  <Slides>15</Slides>
  <Notes>15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15</vt:i4>
      </vt:variant>
    </vt:vector>
  </HeadingPairs>
  <TitlesOfParts>
    <vt:vector size="17" baseType="lpstr">
      <vt:lpstr>Arial</vt:lpstr>
      <vt:lpstr>Team 1 DM1</vt:lpstr>
      <vt:lpstr>Beyond CTG repeats: one predictor per drug</vt:lpstr>
      <vt:lpstr>Three drugs act at three different points of the disease, so we asked the question separately for each</vt:lpstr>
      <vt:lpstr>We split first, chose every setting by cross-validation, scored the test set once, and checked every method against planted noise</vt:lpstr>
      <vt:lpstr>Mexiletine: patients with more severe myotonia respond more, because the drug treats that symptom</vt:lpstr>
      <vt:lpstr>Antisense oligonucleotide: patients with longer CTG repeats respond more, but individual response stays hard to predict</vt:lpstr>
      <vt:lpstr>Tideglusib: response depends on baseline cognition as a threshold; machine learning found the shape, and one rule captures it</vt:lpstr>
      <vt:lpstr>One routine baseline measure per drug separates responders two- to five-fold in the test set; machine learning added the shape of one effect, not new predictors</vt:lpstr>
      <vt:lpstr>What we would not claim, and what we used</vt:lpstr>
      <vt:lpstr>Backup: the split moves the scores, not the covariates (20 different train/test splits)</vt:lpstr>
      <vt:lpstr>Backup: covariate models and machine learning on the same test-set patients</vt:lpstr>
      <vt:lpstr>Backup: which method selected which covariate</vt:lpstr>
      <vt:lpstr>Backup: the key measure holds within each onset type; an exploratory which-drug-for-whom view</vt:lpstr>
      <vt:lpstr>Backup: mechanism of action explains why each arm selects a different covariate</vt:lpstr>
      <vt:lpstr>Backup: four independent pipelines, one answer</vt:lpstr>
      <vt:lpstr>Backup: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Euibeom Shin</cp:lastModifiedBy>
  <cp:revision>1</cp:revision>
  <dcterms:created xsi:type="dcterms:W3CDTF">2026-10-14T02:59:21Z</dcterms:created>
  <dcterms:modified xsi:type="dcterms:W3CDTF">2026-10-14T03:06:59Z</dcterms:modified>
</cp:coreProperties>
</file>