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· total 4:45 (≤ 5:00)</a:t>
            </a:r>
          </a:p>
          <a:p/>
          <a:p>
            <a:r>
              <a:t>Pace ~145 wpm to hold 4:45 (≤ 5:00); slides 5 then 7 are the pinch — keep them brisk and rehearse against a timer to land ≤ 4:50. Total budget 4:45. Rehearsal, Mon 12 Oct 2026 — fold 5 pseudo-test; locked fold 1 not opened. Keys: ←/→ or Space navigate · N toggles these notes · F fullscreen · Cmd/Ctrl-P → “Save as PDF” prints one slide per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· 0:30 · [0:00–0:30]</a:t>
            </a:r>
          </a:p>
          <a:p/>
          <a:p>
            <a:r>
              <a:t>Here’s the problem. Five hundred simulated DM1 patients, three therapies, eighteen baseline covariates each. For each arm: which baseline covariates predict who responds? On data this size, a single split can hand you a different answer every time. So the real question isn’t only which covariates predict response — it’s which signals are real, and which are just the luck of who landed in the test set. That’s the whole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· 0:40 · [0:30–1:10]</a:t>
            </a:r>
          </a:p>
          <a:p/>
          <a:p>
            <a:r>
              <a:t>Our method is rigor. Fourteen models per task — eight inference methods, from OLS and stepwise through LASSO, elastic net, and a spline GAM, plus six prediction methods: random forest, gradient boosting, SVM, kNN, and an MLP. Gradient boosting is scikit-learn’s HistGradientBoosting standing in for XGBoost — same role, no native dependency. Every one is scored on the exact same held-out patients — two endpoints, three arms, one pipeline. And the real test set — fold one, 101 patients, hash recorded October 11th — stays sealed until the final run. Everything today is rehearsal.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· 0:45 · [1:10–1:55]</a:t>
            </a:r>
          </a:p>
          <a:p/>
          <a:p>
            <a:r>
              <a:t>Now the honest headline. We reran the whole thing across twenty reseeded splits. The median per-method test-R-squared standard deviation is 0.131 — that’s large, so any ranking inside that band is a tie, not a winner. The top score swings with the split — Tideglusib runs point-two-six to point-three-five — yet the covariates barely move: across all twenty seeds, Tideglusib cognition is selected 100%, Oligo CTG repeats 90%, Mexiletine myotonia 85%. So we never crown a model — we find the covariate signal that survives.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· 0:40 · [1:55–2:35]</a:t>
            </a:r>
          </a:p>
          <a:p/>
          <a:p>
            <a:r>
              <a:t>How do we separate signal from noise? We fixed the bar before we looked: a covariate counts as real only if it’s stable in at least sixty percent of a hundred half-subsamples and beats a shuffled-outcome null. Two signals replicate cleanly on both endpoints — Tideglusib cognition, and Oligonucleotide CTG repeats. And here’s the honesty judges should want: Mexiletine’s severity trio is stable but sits inside the null on the relative target, so we call it suggestive — not real. And one Oligo covariate, insulin_resistance, met the bar on a single fold but failed cross-seed — 17% — so we downgraded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· 0:55 · [2:35–3:30]</a:t>
            </a:r>
          </a:p>
          <a:p/>
          <a:p>
            <a:r>
              <a:t>This is the showcase — Tideglusib. Machine learning found it: random forest’s twenty-seed mean R-squared is point-four-nine, versus roughly point-two-nine to point-three-six for the linear models — a nonlinearity. The shape is a step, not a slope: a high plateau near eight at low baseline cognition, then a four-point cliff, then flat. So we let the data pick one threshold — cognitive function at or below minus zero-point-five-oh-five — and that single indicator lifts held-out R-squared from point-two-three to point-three-eight, beating even the spline. One fold, so it corroborates the twenty-seed and cross-seed evidence rather than standing alone. Biology explains it: the composite is cognition-weighted, so impaired patients have the most head-room. In-sample the rule enriches mean improvement to eight-point-three versus three-point-five — but with no placebo arm, that’s on-treatment, prognostic enrichment, to confirm against a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· 0:45 · [3:30–4:15]</a:t>
            </a:r>
          </a:p>
          <a:p/>
          <a:p>
            <a:r>
              <a:t>The other two arms, honestly. Mexiletine: we can’t predict improvement magnitude — best R-squared about point-one-nine, CI through zero. But the responder label is predictable: stepwise logistic hits ROC-AUC point-seven-seven, CI point-five-nine to point-nine-three. And a CTG cut above four-forty-eight roughly doubles responder prevalence, point-two-nine to point-five-four — a prognostic cut to pre-specify, in-sample over folds 2–5, not held-out. Oligonucleotide: CTG repeats is a real, stable axis — ninety percent — but per-patient QMT change is unpredictable out of sample, R-squared point-oh-six, CI through zero. So use CTG to stratify, not predict individuals. And we flagged a direction surprise for the locked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· 0:30 · [4:15–4:45]</a:t>
            </a:r>
          </a:p>
          <a:p/>
          <a:p>
            <a:r>
              <a:t>So what do you walk away with? Three pre-registered enrichment rules. Tideglusib — enroll cognition z below minus zero-point-five: adopted as prognostic enrichment, to confirm against a control. Mexiletine — CTG above four-forty-eight, a prognostic cut. Oligonucleotide — CTG to stratify only; no magnitude threshold survived. Every score carries a bootstrap interval; every signal a cross-seed frequency. Nothing rests on one lucky split. Tomorrow the locked fold opens once and refreshes every number.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515600" cy="502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ACoP 2026 hackathon · simulated data · rehearsal, Mon 12 Oct 2026</a:t>
            </a:r>
          </a:p>
          <a:p>
            <a:pPr>
              <a:spcAft>
                <a:spcPts val="200"/>
              </a:spcAft>
            </a:pPr>
            <a:r>
              <a:rPr sz="3400" b="1" i="0">
                <a:solidFill>
                  <a:srgbClr val="000000"/>
                </a:solidFill>
                <a:latin typeface="Calibri"/>
              </a:rPr>
              <a:t>DM1 covariate analysis</a:t>
            </a:r>
          </a:p>
          <a:p>
            <a:pPr>
              <a:spcAft>
                <a:spcPts val="1200"/>
              </a:spcAft>
            </a:pPr>
            <a:r>
              <a:rPr sz="2600" b="1" i="0">
                <a:solidFill>
                  <a:srgbClr val="000000"/>
                </a:solidFill>
                <a:latin typeface="Calibri"/>
              </a:rPr>
              <a:t>— who responds, and is it real?</a:t>
            </a:r>
          </a:p>
          <a:p>
            <a:pPr>
              <a:spcAft>
                <a:spcPts val="1400"/>
              </a:spcAft>
            </a:pPr>
            <a:r>
              <a:rPr sz="2000" b="1" i="1">
                <a:solidFill>
                  <a:srgbClr val="000000"/>
                </a:solidFill>
                <a:latin typeface="Calibri"/>
              </a:rPr>
              <a:t>“scores move, covariates don’t”</a:t>
            </a:r>
          </a:p>
          <a:p>
            <a:pPr>
              <a:spcAft>
                <a:spcPts val="18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Mexiletine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   ·  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Oligonucleotide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   ·  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Tideglusib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Held-out scoring traces to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outputs/report/slide_tables.md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and the files it cites. Marginal ρ from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results/tables/outcome_associations.csv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; the Mexiletine responder-prevalence enrichment is an in-sample descriptive statistic from the raw dataset (flagged on slides 6–7). The locked </a:t>
            </a:r>
            <a:r>
              <a:rPr sz="1200" b="1" i="0">
                <a:solidFill>
                  <a:srgbClr val="000000"/>
                </a:solidFill>
                <a:latin typeface="Calibri"/>
              </a:rPr>
              <a:t>fold 1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(n = 101, sha256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8b3fb2cb…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, seed 2026) is </a:t>
            </a:r>
            <a:r>
              <a:rPr sz="1200" b="1" i="0">
                <a:solidFill>
                  <a:srgbClr val="000000"/>
                </a:solidFill>
                <a:latin typeface="Calibri"/>
              </a:rPr>
              <a:t>not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opened.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Calibri"/>
              </a:rPr>
              <a:t>The hard part isn’t </a:t>
            </a:r>
            <a:r>
              <a:rPr sz="2400" b="1" i="1">
                <a:solidFill>
                  <a:srgbClr val="000000"/>
                </a:solidFill>
                <a:latin typeface="Calibri"/>
              </a:rPr>
              <a:t>which</a:t>
            </a:r>
            <a:r>
              <a:rPr sz="2400" b="1" i="0">
                <a:solidFill>
                  <a:srgbClr val="000000"/>
                </a:solidFill>
                <a:latin typeface="Calibri"/>
              </a:rPr>
              <a:t> covariate predicts response — it’s telling real signal from a lucky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603504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 b="1" i="0">
                <a:solidFill>
                  <a:srgbClr val="000000"/>
                </a:solidFill>
                <a:latin typeface="Calibri"/>
              </a:rPr>
              <a:t>500 simulated DM1 patients, 3 therapies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(Mexiletine, Oligonucleotide, Tideglusib),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18 baseline covariates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each.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One question per arm: </a:t>
            </a:r>
            <a:r>
              <a:rPr sz="1400" b="0" i="1">
                <a:solidFill>
                  <a:srgbClr val="000000"/>
                </a:solidFill>
                <a:latin typeface="Calibri"/>
              </a:rPr>
              <a:t>which baseline covariates predict who responds?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— asked on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two endpoints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, a continuous improvement score and a binary responder label.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trap: on data this size, a single train/test split can crown a different “answer” every time. The real question is which signals are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real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versus an artifact of who landed in the test set.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Our claim: ask it the right way and the answer is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reproducible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; trust one leaderboard and it is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misleading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.</a:t>
            </a:r>
          </a:p>
        </p:txBody>
      </p:sp>
      <p:pic>
        <p:nvPicPr>
          <p:cNvPr id="4" name="Picture 3" descr="im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205" y="1371600"/>
            <a:ext cx="4669908" cy="43224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5767197"/>
            <a:ext cx="4846320" cy="6153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1">
                <a:solidFill>
                  <a:srgbClr val="000000"/>
                </a:solidFill>
                <a:latin typeface="Calibri"/>
              </a:rPr>
              <a:t>Mexiletine, continuous endpoint: all 14 methods’ 95% bootstrap CIs cross zero — none is distinguishable from no-skill. </a:t>
            </a:r>
            <a:r>
              <a:rPr sz="1100" b="1" i="1">
                <a:solidFill>
                  <a:srgbClr val="000000"/>
                </a:solidFill>
                <a:latin typeface="Calibri"/>
              </a:rPr>
              <a:t>Which of these, if any, is real?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</a:rPr>
              <a:t>Rehearsal · scores on fold 5 · locked fold 1 (n=101, sha256 8b3fb2cb…) sealed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Calibri"/>
              </a:rPr>
              <a:t>Same held-out patients for all 14 models — so a score gap is the </a:t>
            </a:r>
            <a:r>
              <a:rPr sz="2400" b="1" i="1">
                <a:solidFill>
                  <a:srgbClr val="000000"/>
                </a:solidFill>
                <a:latin typeface="Calibri"/>
              </a:rPr>
              <a:t>method</a:t>
            </a:r>
            <a:r>
              <a:rPr sz="2400" b="1" i="0">
                <a:solidFill>
                  <a:srgbClr val="000000"/>
                </a:solidFill>
                <a:latin typeface="Calibri"/>
              </a:rPr>
              <a:t>, not the </a:t>
            </a:r>
            <a:r>
              <a:rPr sz="2400" b="1" i="1">
                <a:solidFill>
                  <a:srgbClr val="000000"/>
                </a:solidFill>
                <a:latin typeface="Calibri"/>
              </a:rPr>
              <a:t>sample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14 models × 2 endpoints × 3 arms · one locked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08760"/>
            <a:ext cx="6035040" cy="480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 b="1" i="0">
                <a:solidFill>
                  <a:srgbClr val="000000"/>
                </a:solidFill>
                <a:latin typeface="Calibri"/>
              </a:rPr>
              <a:t>14 methods per task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— 8 inference (OLS/logistic, stepwise AIC, stepwise BIC, best subset, LASSO, elastic net, ridge, GAM) + 6 prediction (random forest, gradient boosting untuned/tuned, SVM, kNN, MLP).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Gradient boosting = scikit-learn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HistGradientBoosting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, filling XGBoost’s role (no OpenMP runtime here) — same job, fully reproducible (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docs/LOG.md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).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All 14 scored on the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same held-out rows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, so a score gap is the </a:t>
            </a:r>
            <a:r>
              <a:rPr sz="1400" b="0" i="1">
                <a:solidFill>
                  <a:srgbClr val="000000"/>
                </a:solidFill>
                <a:latin typeface="Calibri"/>
              </a:rPr>
              <a:t>method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, not the </a:t>
            </a:r>
            <a:r>
              <a:rPr sz="1400" b="0" i="1">
                <a:solidFill>
                  <a:srgbClr val="000000"/>
                </a:solidFill>
                <a:latin typeface="Calibri"/>
              </a:rPr>
              <a:t>sample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real test set —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fold 1, 101 patients, sha256 </a:t>
            </a:r>
            <a:r>
              <a:rPr sz="1400" b="1" i="0">
                <a:solidFill>
                  <a:srgbClr val="000000"/>
                </a:solidFill>
                <a:latin typeface="Consolas"/>
              </a:rPr>
              <a:t>8b3fb2cb…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, hash recorded Oct 11 — opens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exactly once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at the final run (G3). Everything today is rehearsal on fold 5; the discipline was fixed before we looked (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docs/hypothesis_sheet.md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).</a:t>
            </a:r>
          </a:p>
        </p:txBody>
      </p:sp>
      <p:pic>
        <p:nvPicPr>
          <p:cNvPr id="4" name="Picture 3" descr="im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2225" y="1600200"/>
            <a:ext cx="4597869" cy="42684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5941822"/>
            <a:ext cx="4846320" cy="4406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1">
                <a:solidFill>
                  <a:srgbClr val="000000"/>
                </a:solidFill>
                <a:latin typeface="Calibri"/>
              </a:rPr>
              <a:t>The second endpoint (binary), 14 methods — all CIs overlap. </a:t>
            </a:r>
            <a:r>
              <a:rPr sz="1100" b="1" i="1">
                <a:solidFill>
                  <a:srgbClr val="000000"/>
                </a:solidFill>
                <a:latin typeface="Calibri"/>
              </a:rPr>
              <a:t>The ranking is a tie.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</a:rPr>
              <a:t>Rehearsal · scores on fold 5 · locked fold 1 (n=101, sha256 8b3fb2cb…) sealed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Calibri"/>
              </a:rPr>
              <a:t>The honest headline: the train/test split moves the </a:t>
            </a:r>
            <a:r>
              <a:rPr sz="2400" b="1" i="1">
                <a:solidFill>
                  <a:srgbClr val="000000"/>
                </a:solidFill>
                <a:latin typeface="Calibri"/>
              </a:rPr>
              <a:t>scores</a:t>
            </a:r>
            <a:r>
              <a:rPr sz="2400" b="1" i="0">
                <a:solidFill>
                  <a:srgbClr val="000000"/>
                </a:solidFill>
                <a:latin typeface="Calibri"/>
              </a:rPr>
              <a:t>, not the </a:t>
            </a:r>
            <a:r>
              <a:rPr sz="2400" b="1" i="1">
                <a:solidFill>
                  <a:srgbClr val="000000"/>
                </a:solidFill>
                <a:latin typeface="Calibri"/>
              </a:rPr>
              <a:t>covariates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603504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Across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20 reseeded splits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, the median per-method test-R² SD is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0.131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(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compare/verdict.md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) — any ranking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inside that band is a tie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, not a winner.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Same arm, different split, the leading R² swings: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Tideglusib +0.26 / +0.30 / +0.35; Mexiletine +0.19 / −0.01 / +0.14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(fold5 / single80 / single75).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Yet the covariates barely move: across all 20 seeds,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Tideglusib cognition 100%, Oligonucleotide CTG repeats 90%, Mexiletine myotonia 85%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So we never crown a model. We identify the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covariate signal that survives resampling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— that is the reproducible object.</a:t>
            </a:r>
          </a:p>
        </p:txBody>
      </p:sp>
      <p:pic>
        <p:nvPicPr>
          <p:cNvPr id="4" name="Picture 3" descr="img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846320" cy="30938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4538608"/>
            <a:ext cx="4846320" cy="6153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1">
                <a:solidFill>
                  <a:srgbClr val="000000"/>
                </a:solidFill>
                <a:latin typeface="Calibri"/>
              </a:rPr>
              <a:t>CTG repeats (top-right): stable in ~90% of </a:t>
            </a:r>
            <a:r>
              <a:rPr sz="1100" b="1" i="1">
                <a:solidFill>
                  <a:srgbClr val="000000"/>
                </a:solidFill>
                <a:latin typeface="Calibri"/>
              </a:rPr>
              <a:t>100 half-subsamples</a:t>
            </a:r>
            <a:r>
              <a:rPr sz="1100" b="0" i="1">
                <a:solidFill>
                  <a:srgbClr val="000000"/>
                </a:solidFill>
                <a:latin typeface="Calibri"/>
              </a:rPr>
              <a:t> (x-axis) and above the shuffled-RF null (dashed). insulin_resistance also clears here but fails cross-seed (17%) — see slide 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</a:rPr>
              <a:t>Rehearsal · scores on fold 5 · locked fold 1 (n=101, sha256 8b3fb2cb…) sealed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Calibri"/>
              </a:rPr>
              <a:t>A shuffled-outcome null plus stability selection separates </a:t>
            </a:r>
            <a:r>
              <a:rPr sz="2400" b="1" i="1">
                <a:solidFill>
                  <a:srgbClr val="000000"/>
                </a:solidFill>
                <a:latin typeface="Calibri"/>
              </a:rPr>
              <a:t>real signal</a:t>
            </a:r>
            <a:r>
              <a:rPr sz="2400" b="1" i="0">
                <a:solidFill>
                  <a:srgbClr val="000000"/>
                </a:solidFill>
                <a:latin typeface="Calibri"/>
              </a:rPr>
              <a:t> from a field of noise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603504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 b="1" i="0">
                <a:solidFill>
                  <a:srgbClr val="000000"/>
                </a:solidFill>
                <a:latin typeface="Calibri"/>
              </a:rPr>
              <a:t>Pre-registered bar, fixed before scoring: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a covariate is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“real signal”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only if stable in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≥60% of 100 half-subsamples AND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beats the 95th percentile of a shuffled-outcome RF null (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docs/hypothesis_sheet.md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).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1" i="0">
                <a:solidFill>
                  <a:srgbClr val="000000"/>
                </a:solidFill>
                <a:latin typeface="Calibri"/>
              </a:rPr>
              <a:t>Replicating real signals: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Tideglusib cognition (both endpoints) and Oligonucleotide CTG repeats (both endpoints).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1" i="0">
                <a:solidFill>
                  <a:srgbClr val="000000"/>
                </a:solidFill>
                <a:latin typeface="Calibri"/>
              </a:rPr>
              <a:t>Honesty on display: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Mexiletine’s severity trio (myotonia, CTG, duration) is stable but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inside the RF null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on the relative target →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“suggestive,” not real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(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slide_tables.md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).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1" i="0">
                <a:solidFill>
                  <a:srgbClr val="000000"/>
                </a:solidFill>
                <a:latin typeface="Calibri"/>
              </a:rPr>
              <a:t>A flag we kept, not hid: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Oligo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insulin_resistance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met the real-signal bar on fold 5 (stable 0.78, beats the null 0.262 &gt; 0.172) — but we override it: it holds in only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17% of cross-seed splits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(and q = 0.075 under FDR).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Downgraded, not claimed.</a:t>
            </a:r>
          </a:p>
        </p:txBody>
      </p:sp>
      <p:pic>
        <p:nvPicPr>
          <p:cNvPr id="4" name="Picture 3" descr="img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846320" cy="30984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4543218"/>
            <a:ext cx="4846320" cy="6153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1">
                <a:solidFill>
                  <a:srgbClr val="000000"/>
                </a:solidFill>
                <a:latin typeface="Calibri"/>
              </a:rPr>
              <a:t>Only </a:t>
            </a:r>
            <a:r>
              <a:rPr sz="1100" b="1" i="1">
                <a:solidFill>
                  <a:srgbClr val="000000"/>
                </a:solidFill>
                <a:latin typeface="Calibri"/>
              </a:rPr>
              <a:t>cognition (green)</a:t>
            </a:r>
            <a:r>
              <a:rPr sz="1100" b="0" i="1">
                <a:solidFill>
                  <a:srgbClr val="000000"/>
                </a:solidFill>
                <a:latin typeface="Calibri"/>
              </a:rPr>
              <a:t> clears the dashed null; all 17 other covariates sit inside it — the overlapping labels along the bottom are all “suggestive” or noise.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</a:rPr>
              <a:t>Rehearsal · scores on fold 5 · locked fold 1 (n=101, sha256 8b3fb2cb…) sealed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Calibri"/>
              </a:rPr>
              <a:t>Tideglusib is the showcase: ML found a cognition threshold, a one-term rule captures it, and biology explains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603504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 b="1" i="0">
                <a:solidFill>
                  <a:srgbClr val="000000"/>
                </a:solidFill>
                <a:latin typeface="Calibri"/>
              </a:rPr>
              <a:t>ML found it: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random forest’s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20-seed mean R² = 0.491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vs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~0.29 (OLS) – 0.36 (LASSO)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for the linear models (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compare/repeat20_r2.csv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) — a nonlinearity linear fits miss.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1" i="0">
                <a:solidFill>
                  <a:srgbClr val="000000"/>
                </a:solidFill>
                <a:latin typeface="Calibri"/>
              </a:rPr>
              <a:t>It’s a step, not a slope: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partial dependence holds a high plateau (~8) for low baseline cognition, then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cliffs ~4 points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to a ~3.8 floor and flattens — a spline GAM (R² 0.119) underfits it.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1" i="0">
                <a:solidFill>
                  <a:srgbClr val="000000"/>
                </a:solidFill>
                <a:latin typeface="Calibri"/>
              </a:rPr>
              <a:t>One term captures it: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the data-chosen cut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1[cognitive_function ≤ −0.505]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lifts single-term test R² from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+0.233 (linear) to +0.377 (indicator)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(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rule.txt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) — one held-out fold (~34 pts), so it </a:t>
            </a:r>
            <a:r>
              <a:rPr sz="1400" b="0" i="1">
                <a:solidFill>
                  <a:srgbClr val="000000"/>
                </a:solidFill>
                <a:latin typeface="Calibri"/>
              </a:rPr>
              <a:t>corroborates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the 20-seed + cross-seed evidence; re-estimated on fold 1.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1" i="0">
                <a:solidFill>
                  <a:srgbClr val="000000"/>
                </a:solidFill>
                <a:latin typeface="Calibri"/>
              </a:rPr>
              <a:t>Biology explains it: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a cognition-weighted composite + GSK-3β target → a head-room/floor effect. In-sample (48/102) the rule enriches mean improvement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3.46 → 8.28 (2.4×)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, keeping ~47% — but with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no placebo arm this is on-treatment response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, i.e.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prognostic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enrichment to confirm against a control, not yet separable from regression-to-the-mean / floor. Marginal ρ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−0.647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(q = 4e-16;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outcome_associations.csv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); the pre-registered step near z ≈ −0.5 landed on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−0.505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.</a:t>
            </a:r>
          </a:p>
        </p:txBody>
      </p:sp>
      <p:pic>
        <p:nvPicPr>
          <p:cNvPr id="4" name="Picture 3" descr="img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846320" cy="27775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4222344"/>
            <a:ext cx="4846320" cy="4406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1">
                <a:solidFill>
                  <a:srgbClr val="000000"/>
                </a:solidFill>
                <a:latin typeface="Calibri"/>
              </a:rPr>
              <a:t>RF partial dependence: a ~4-point cliff (≈8 → ≈3.8) at the data-chosen cut </a:t>
            </a:r>
            <a:r>
              <a:rPr sz="1100" b="1" i="1">
                <a:solidFill>
                  <a:srgbClr val="000000"/>
                </a:solidFill>
                <a:latin typeface="Calibri"/>
              </a:rPr>
              <a:t>cognition = −0.505</a:t>
            </a:r>
            <a:r>
              <a:rPr sz="1100" b="0" i="1">
                <a:solidFill>
                  <a:srgbClr val="000000"/>
                </a:solidFill>
                <a:latin typeface="Calibri"/>
              </a:rPr>
              <a:t> (dashed) — a step, not a slope.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</a:rPr>
              <a:t>Rehearsal · scores on fold 5 · locked fold 1 (n=101, sha256 8b3fb2cb…) sealed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Calibri"/>
              </a:rPr>
              <a:t>Both other arms, told honestly: the label/axis is </a:t>
            </a:r>
            <a:r>
              <a:rPr sz="2400" b="1" i="1">
                <a:solidFill>
                  <a:srgbClr val="000000"/>
                </a:solidFill>
                <a:latin typeface="Calibri"/>
              </a:rPr>
              <a:t>real</a:t>
            </a:r>
            <a:r>
              <a:rPr sz="2400" b="1" i="0">
                <a:solidFill>
                  <a:srgbClr val="000000"/>
                </a:solidFill>
                <a:latin typeface="Calibri"/>
              </a:rPr>
              <a:t>; the per-patient magnitude isn’t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640080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Mexiletine — label yes, magnitude no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responder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label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is cleanly separable (stepwise logistic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ROC-AUC 0.773, CI 0.587–0.928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), even though improvement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magnitude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is not (best R² ≈ 0.19, CI through 0). The relative target divides severity back out.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1400" b="1" i="0">
                <a:solidFill>
                  <a:srgbClr val="000000"/>
                </a:solidFill>
                <a:latin typeface="Calibri"/>
              </a:rPr>
              <a:t>Enrichment (prognostic):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CTG &gt; 448 ~doubles responder prevalence,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0.289 → 0.543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— an </a:t>
            </a:r>
            <a:r>
              <a:rPr sz="1400" b="0" i="1">
                <a:solidFill>
                  <a:srgbClr val="000000"/>
                </a:solidFill>
                <a:latin typeface="Calibri"/>
              </a:rPr>
              <a:t>in-sample descriptive stat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over folds 2–5 (N=128; enriched n=35, wide CI), from the raw dataset (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interpretation_Mexiletine.md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§6), </a:t>
            </a:r>
            <a:r>
              <a:rPr sz="1400" b="0" i="1">
                <a:solidFill>
                  <a:srgbClr val="000000"/>
                </a:solidFill>
                <a:latin typeface="Calibri"/>
              </a:rPr>
              <a:t>not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held-out scoring.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Oligonucleotide — axis yes, prediction no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CTG repeats is a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real, stable axis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(90% on the continuous endpoint — half-subsample + cross-seed; 76% binary) but per-patient QMT change is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unpredictable out-of-sample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(R² 0.057, CI [−0.29, +0.25]). Use CTG to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stratify, not predict individuals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1400" b="1" i="0">
                <a:solidFill>
                  <a:srgbClr val="000000"/>
                </a:solidFill>
                <a:latin typeface="Calibri"/>
              </a:rPr>
              <a:t>Flag for the locked run: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repeat-burden direction is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positive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here (ρ +0.42, q = 6e-6;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outcome_associations.csv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),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opposite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the mechanistic ceiling prior — pre-specify the sign, confirm on fold 1.</a:t>
            </a:r>
          </a:p>
          <a:p>
            <a:pPr>
              <a:spcAft>
                <a:spcPts val="200"/>
              </a:spcAft>
            </a:pPr>
            <a:r>
              <a:rPr sz="2000" b="1" i="0">
                <a:solidFill>
                  <a:srgbClr val="000000"/>
                </a:solidFill>
                <a:latin typeface="Calibri"/>
              </a:rPr>
              <a:t>AUC 0.773</a:t>
            </a:r>
          </a:p>
          <a:p>
            <a:pPr>
              <a:spcAft>
                <a:spcPts val="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Mexiletine responder label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— top stepwise logistic, 95% CI 0.587–0.928; clears 0.5 (no-skill). The </a:t>
            </a:r>
            <a:r>
              <a:rPr sz="1400" b="0" i="1">
                <a:solidFill>
                  <a:srgbClr val="000000"/>
                </a:solidFill>
                <a:latin typeface="Calibri"/>
              </a:rPr>
              <a:t>label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is separable even though improvement </a:t>
            </a:r>
            <a:r>
              <a:rPr sz="1400" b="0" i="1">
                <a:solidFill>
                  <a:srgbClr val="000000"/>
                </a:solidFill>
                <a:latin typeface="Calibri"/>
              </a:rPr>
              <a:t>magnitude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is not.</a:t>
            </a:r>
          </a:p>
        </p:txBody>
      </p:sp>
      <p:pic>
        <p:nvPicPr>
          <p:cNvPr id="4" name="Picture 3" descr="img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645920"/>
            <a:ext cx="4480560" cy="25641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0" y="4283207"/>
            <a:ext cx="4480560" cy="4406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1">
                <a:solidFill>
                  <a:srgbClr val="000000"/>
                </a:solidFill>
                <a:latin typeface="Calibri"/>
              </a:rPr>
              <a:t>Oligonucleotide:</a:t>
            </a:r>
            <a:r>
              <a:rPr sz="1100" b="0" i="1">
                <a:solidFill>
                  <a:srgbClr val="000000"/>
                </a:solidFill>
                <a:latin typeface="Calibri"/>
              </a:rPr>
              <a:t> CTG partial dependence rises monotonically (0.38 → 1.76) — </a:t>
            </a:r>
            <a:r>
              <a:rPr sz="1100" b="1" i="1">
                <a:solidFill>
                  <a:srgbClr val="000000"/>
                </a:solidFill>
                <a:latin typeface="Calibri"/>
              </a:rPr>
              <a:t>no exploitable step</a:t>
            </a:r>
            <a:r>
              <a:rPr sz="1100" b="0" i="1">
                <a:solidFill>
                  <a:srgbClr val="000000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</a:rPr>
              <a:t>Rehearsal · scores on fold 5 · locked fold 1 (n=101, sha256 8b3fb2cb…) sealed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Calibri"/>
              </a:rPr>
              <a:t>The deliverable is three pre-registered enrichment rules — and the discipline that makes them trustworthy before the locked run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4552" cy="146304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325880"/>
                <a:gridCol w="2331720"/>
                <a:gridCol w="2788920"/>
                <a:gridCol w="4828032"/>
              </a:tblGrid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Arm</a:t>
                      </a:r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Rule (data-chosen)</a:t>
                      </a:r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Effect (in-sample, on-treatment)</a:t>
                      </a:r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54864" marR="54864" marT="27432" marB="27432"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Tideglusib</a:t>
                      </a:r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enroll </a:t>
                      </a:r>
                      <a:r>
                        <a:rPr sz="1200" b="0" i="0">
                          <a:solidFill>
                            <a:srgbClr val="000000"/>
                          </a:solidFill>
                          <a:latin typeface="Consolas"/>
                        </a:rPr>
                        <a:t>cognition z ≤ −0.5</a:t>
                      </a:r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8.28 vs 3.46, keeps ~47% (48/102)</a:t>
                      </a:r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Adopted (prognostic)</a:t>
                      </a:r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 — step beats the linear term out-of-sample (+0.377 &gt; +0.233); backed by 20-seed + 100% cross-seed. On-treatment, </a:t>
                      </a:r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no placebo</a:t>
                      </a:r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 → confirm against a control on fold 1.</a:t>
                      </a:r>
                    </a:p>
                  </a:txBody>
                  <a:tcPr marL="54864" marR="54864" marT="27432" marB="27432"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Mexiletine</a:t>
                      </a:r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Consolas"/>
                        </a:rPr>
                        <a:t>CTG &gt; 448</a:t>
                      </a:r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responder prevalence 0.289 → 0.543 (folds 2–5, N=128; n=35 enriched)</a:t>
                      </a:r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Prognostic on the label</a:t>
                      </a:r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 — the magnitude cut does </a:t>
                      </a:r>
                      <a:r>
                        <a:rPr sz="1200" b="0" i="1">
                          <a:solidFill>
                            <a:srgbClr val="000000"/>
                          </a:solidFill>
                          <a:latin typeface="Calibri"/>
                        </a:rPr>
                        <a:t>not</a:t>
                      </a:r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 beat the linear term (+0.138 &lt; +0.163), so we don’t claim it there. Pre-specify; confirm on fold 1.</a:t>
                      </a:r>
                    </a:p>
                  </a:txBody>
                  <a:tcPr marL="54864" marR="54864" marT="27432" marB="27432"/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Oligonucleotide</a:t>
                      </a:r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CTG as </a:t>
                      </a:r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stratifier only</a:t>
                      </a:r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orders patients 2.03 vs 0.38 (41/102)</a:t>
                      </a:r>
                    </a:p>
                  </a:txBody>
                  <a:tcPr marL="54864" marR="54864" marT="27432" marB="27432"/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No magnitude threshold</a:t>
                      </a:r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 — indicator R² went negative OOS (−0.071). Stratify, don’t threshold.</a:t>
                      </a:r>
                    </a:p>
                  </a:txBody>
                  <a:tcPr marL="54864" marR="54864" marT="27432" marB="27432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74720"/>
            <a:ext cx="694944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Nothing here rests on a single lucky split: held-out scores carry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bootstrap CIs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and a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20-seed SD (0.131)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; signals carry a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cross-seed frequency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. (The enrichment effect sizes above are in-sample/training point estimates — wide CI, re-estimated on fold 1.)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 b="1" i="0">
                <a:solidFill>
                  <a:srgbClr val="000000"/>
                </a:solidFill>
                <a:latin typeface="Calibri"/>
              </a:rPr>
              <a:t>Next (G3):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open the locked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fold 1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 once, confirm hash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8b3fb2cb…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, refresh every number. The rules and the honesty are 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already pre-registered</a:t>
            </a:r>
            <a:r>
              <a:rPr sz="1400" b="0" i="0">
                <a:solidFill>
                  <a:srgbClr val="000000"/>
                </a:solidFill>
                <a:latin typeface="Calibri"/>
              </a:rPr>
              <a:t>.</a:t>
            </a:r>
          </a:p>
        </p:txBody>
      </p:sp>
      <p:pic>
        <p:nvPicPr>
          <p:cNvPr id="5" name="Picture 4" descr="img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337560"/>
            <a:ext cx="4023360" cy="2305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5716637"/>
            <a:ext cx="4023360" cy="4406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1">
                <a:solidFill>
                  <a:srgbClr val="000000"/>
                </a:solidFill>
                <a:latin typeface="Calibri"/>
              </a:rPr>
              <a:t>Callback to slide 5 — the one rule we would pre-register today: </a:t>
            </a:r>
            <a:r>
              <a:rPr sz="1100" b="1" i="1">
                <a:solidFill>
                  <a:srgbClr val="000000"/>
                </a:solidFill>
                <a:latin typeface="Calibri"/>
              </a:rPr>
              <a:t>enroll cognition z ≤ −0.5</a:t>
            </a:r>
            <a:r>
              <a:rPr sz="1100" b="0" i="1">
                <a:solidFill>
                  <a:srgbClr val="000000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</a:rPr>
              <a:t>Rehearsal · scores on fold 5 · locked fold 1 (n=101, sha256 8b3fb2cb…) sealed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